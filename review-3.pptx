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Petrona Bold" panose="020B0604020202020204" charset="0"/>
      <p:regular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Inter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39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84AE20-9EAE-4BB7-93AC-7EFA05BCA1C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90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8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2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10" Type="http://schemas.openxmlformats.org/officeDocument/2006/relationships/image" Target="../media/image4.png"/><Relationship Id="rId4" Type="http://schemas.openxmlformats.org/officeDocument/2006/relationships/image" Target="../media/image-7-2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K.AMULYA – 2420090132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P.SAHASRA – 2420090128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S.SUSHMITA – 2420090076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AD1135-6E10-4422-AC8B-257B84239C9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</a:rPr>
              <a:t>AgentTwinDefect AI: An Agentic Digital Twin Platform for Real-Time Hidden Defect Prediction in Smart Manufacturing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10000"/>
                  <a:lumOff val="9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60516" y="241863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SOA Project </a:t>
            </a: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Review-3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2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3" y="1576163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 Paper: Generative and Predictive AI for Digital Twin Systems in Manufacturing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586661" y="3570734"/>
            <a:ext cx="1086874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Authors: Dan Dai, Baixiang Zhao, Zhiwen Yu, Pasquale Franciosa, Dariusz Ceglarek — Frontiers in Artificial Intelligence (2025). DOI: 10.3389/frai.2025.1655470.  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focus: integrating Generative and Predictive AI with Digital Twin systems to enable smarter, real‑time manufacturing monitoring and quality analysis.</a:t>
            </a:r>
            <a:endParaRPr lang="en-US" sz="14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411" y="5848298"/>
            <a:ext cx="2711589" cy="10097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432" y="3244228"/>
            <a:ext cx="558829" cy="283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981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 of the Base Paper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1803499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99886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 AI &amp; Digital Twin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242232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multi-model AI with DT to create an intelligent, data-driven representation of manufacturing processes.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803499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998861"/>
            <a:ext cx="3106164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monitoring &amp; prediction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542716" y="273238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continuous observation, anomaly detection, and forecasted quality outcomes during production.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803499"/>
            <a:ext cx="3496877" cy="2333923"/>
          </a:xfrm>
          <a:prstGeom prst="roundRect">
            <a:avLst>
              <a:gd name="adj" fmla="val 340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99886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AI uses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28600" y="242232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reconstruction, training-data augmentation, and virtual testing to enrich the digital twin and reduce data scarcity.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26434"/>
            <a:ext cx="10868646" cy="1116608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521795"/>
            <a:ext cx="1047793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AI uses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56832" y="4945261"/>
            <a:ext cx="104779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defect detection and predictive quality analysis to anticipate failures and prioritize inspection.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65566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domain emphasized: welding manufacturing (case study and experiments).</a:t>
            </a:r>
            <a:endParaRPr lang="en-US" sz="14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673" y="5632054"/>
            <a:ext cx="1492327" cy="12065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713" y="99134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Components Used in the Base Paper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140775" y="2432189"/>
            <a:ext cx="1567419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AI (GAI)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140775" y="3241318"/>
            <a:ext cx="156741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reconstruction, synthetic data augmentation, and virtual testing for digital twin enrichment.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965895" y="2398628"/>
            <a:ext cx="1567518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AI (PAI)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3965895" y="3207757"/>
            <a:ext cx="156751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and semi‑supervised models for proactive defect detection and predictive quality scoring.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56969" y="2432189"/>
            <a:ext cx="5090489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extensions (identified but not implemented)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356969" y="3241318"/>
            <a:ext cx="509048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Explainable AI (EAI)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interpretability for model outputs and root-cause explanations.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Context‑Aware AI (CAI)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environment- and process-aware adjustments.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Agentic AI (AAI)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autonomous decision agents for corrective actions.</a:t>
            </a:r>
            <a:endParaRPr lang="en-US" sz="14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673" y="5639758"/>
            <a:ext cx="1492327" cy="1206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644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Experimental Results — Defect Detection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460129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5549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3078956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 welding videos → ~146,000 frames (1,247 labeled; ~145,138 unlabeled).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60129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5549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542716" y="3078956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Semi‑supervised Teacher–Student framework (SSWD) leveraging unlabeled frames with GAI augmentation.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60129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5549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Metric &amp; Result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28600" y="3078956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Evaluation: AP₅₀. Reported SSWD performance: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85.54% AP₅₀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outperforming Soft Teacher, Dense Teacher, PseCo, and ARSL in their comparisons.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9990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Visual: SSWD AP₅₀ — 85.54% (single headline metric for viva emphasis).</a:t>
            </a:r>
            <a:endParaRPr lang="en-US" sz="14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673" y="5651438"/>
            <a:ext cx="1492327" cy="12065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908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Identified in the Base Paper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472829"/>
            <a:ext cx="5203794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is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prototype scope limited to welding scenarios.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primarily on a single domain (welding); portability to other processes not validated.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data vulnerability: noise, occlusion, misalignment, and limited labeled samples.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Agentic, Explainable, and Context‑Aware AI components are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implemented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remain future work.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247282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Consequence: additional research required to generalize the approach across heterogeneous manufacturing environments and to operationalize autonomous decision layers.       </a:t>
            </a:r>
            <a:endParaRPr lang="en-US" sz="14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673" y="5577011"/>
            <a:ext cx="1492327" cy="12065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24276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137"/>
            <a:ext cx="10868745" cy="1220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Base Paper to Our Project — High‑Level Extension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1475" y="2049859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We extend the base foundation (GAI + PAI + Digital Twin) by adding an implemented Agentic Decision layer, tighter predictive ML integration, and a data‑driven Digital Twin loop for simulation and recommendation.   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846387"/>
            <a:ext cx="2579821" cy="34574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9767" y="29858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2905" y="3590627"/>
            <a:ext cx="2156962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72905" y="4005659"/>
            <a:ext cx="2156962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ML models estimate machine‑failure and defect likelihoods from sensor/process streams.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424449" y="2846387"/>
            <a:ext cx="2579821" cy="34574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2742" y="29858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3635879" y="3590627"/>
            <a:ext cx="2156962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Twin What‑If Simulation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635879" y="4616053"/>
            <a:ext cx="215696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parameterized virtual tests (GAI-enriched models) to simulate alternate actions and outcomes.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87424" y="2846387"/>
            <a:ext cx="2579821" cy="34574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5717" y="29858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398854" y="3590627"/>
            <a:ext cx="2156962" cy="610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Scenario Comparison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398854" y="4310856"/>
            <a:ext cx="215696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comparison of simulated outcomes to predicted baselines to evaluate interventions.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50399" y="2846387"/>
            <a:ext cx="2579821" cy="34574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28691" y="29858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9161829" y="3590627"/>
            <a:ext cx="2156962" cy="610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Agentic Decision &amp; Recommendation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9161829" y="4310856"/>
            <a:ext cx="2156962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proposes corrective actions and prioritizes recommendations for operators or closed‑loop control.</a:t>
            </a:r>
            <a:endParaRPr lang="en-US" sz="14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9673" y="6509840"/>
            <a:ext cx="1492327" cy="3481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8092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124" y="406519"/>
            <a:ext cx="9477961" cy="180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Contributions &amp; Advantages of Our Extension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233360" y="2863751"/>
            <a:ext cx="2925094" cy="300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Operationalized agentic decision layer for corrective‑action proposals.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predictive ML with a data‑driven Digital Twin for closed‑loop evaluation.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generative augmentation tactically to enhance simulation fidelity and address label scarcity.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611476" y="2863751"/>
            <a:ext cx="2925094" cy="329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“what‑if” validation of proposed interventions before shop‑floor enactment.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human‑in‑the‑loop and automated decision modes for safety and oversight.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extensibility: planned integration of EAI and CAI to improve interpretability and context sensitivity.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54" y="1958272"/>
            <a:ext cx="4769095" cy="44506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673" y="5608556"/>
            <a:ext cx="1492327" cy="1206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207" y="0"/>
            <a:ext cx="1944793" cy="6218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77791" y="2642398"/>
            <a:ext cx="33581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I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812" y="6076910"/>
            <a:ext cx="1130188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2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678</Words>
  <Application>Microsoft Office PowerPoint</Application>
  <PresentationFormat>Widescreen</PresentationFormat>
  <Paragraphs>80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Petrona Bold</vt:lpstr>
      <vt:lpstr>Poppins</vt:lpstr>
      <vt:lpstr>Calibri Light</vt:lpstr>
      <vt:lpstr>Calibri</vt:lpstr>
      <vt:lpstr>Inter</vt:lpstr>
      <vt:lpstr>Cambria</vt:lpstr>
      <vt:lpstr>Aptos</vt:lpstr>
      <vt:lpstr>Inter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Sahasra</dc:creator>
  <cp:lastModifiedBy>Sahasra</cp:lastModifiedBy>
  <cp:revision>2</cp:revision>
  <dcterms:created xsi:type="dcterms:W3CDTF">2026-10-02T06:55:07Z</dcterms:created>
  <dcterms:modified xsi:type="dcterms:W3CDTF">2026-10-02T07:02:15Z</dcterms:modified>
</cp:coreProperties>
</file>