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74" r:id="rId3"/>
    <p:sldId id="276" r:id="rId4"/>
    <p:sldId id="275" r:id="rId5"/>
    <p:sldId id="277" r:id="rId6"/>
    <p:sldId id="278" r:id="rId7"/>
    <p:sldId id="279" r:id="rId8"/>
    <p:sldId id="264" r:id="rId9"/>
    <p:sldId id="265" r:id="rId10"/>
    <p:sldId id="268" r:id="rId11"/>
    <p:sldId id="27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5" d="100"/>
          <a:sy n="75" d="100"/>
        </p:scale>
        <p:origin x="30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8061F-9C31-4433-8F76-1B5774B07BEE}" type="datetimeFigureOut">
              <a:rPr lang="en-IN" smtClean="0"/>
              <a:t>11-09-2026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949978-31BF-4265-B4DC-C473041A5AC7}" type="slidenum">
              <a:rPr lang="en-IN" smtClean="0"/>
              <a:t>‹#›</a:t>
            </a:fld>
            <a:endParaRPr lang="en-IN"/>
          </a:p>
        </p:txBody>
      </p:sp>
    </p:spTree>
    <p:extLst>
      <p:ext uri="{BB962C8B-B14F-4D97-AF65-F5344CB8AC3E}">
        <p14:creationId xmlns:p14="http://schemas.microsoft.com/office/powerpoint/2010/main" val="3847227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What-If simulation - </a:t>
            </a:r>
            <a:r>
              <a:rPr lang="en-US" sz="1200" dirty="0" smtClean="0"/>
              <a:t>Before actually changing something in the real manufacturing process, we virtually change the parameter in the Digital Twin and see what might happen.</a:t>
            </a:r>
          </a:p>
          <a:p>
            <a:endParaRPr lang="en-IN" dirty="0"/>
          </a:p>
        </p:txBody>
      </p:sp>
      <p:sp>
        <p:nvSpPr>
          <p:cNvPr id="4" name="Slide Number Placeholder 3"/>
          <p:cNvSpPr>
            <a:spLocks noGrp="1"/>
          </p:cNvSpPr>
          <p:nvPr>
            <p:ph type="sldNum" sz="quarter" idx="10"/>
          </p:nvPr>
        </p:nvSpPr>
        <p:spPr/>
        <p:txBody>
          <a:bodyPr/>
          <a:lstStyle/>
          <a:p>
            <a:fld id="{AD949978-31BF-4265-B4DC-C473041A5AC7}" type="slidenum">
              <a:rPr lang="en-IN" smtClean="0"/>
              <a:t>4</a:t>
            </a:fld>
            <a:endParaRPr lang="en-IN"/>
          </a:p>
        </p:txBody>
      </p:sp>
    </p:spTree>
    <p:extLst>
      <p:ext uri="{BB962C8B-B14F-4D97-AF65-F5344CB8AC3E}">
        <p14:creationId xmlns:p14="http://schemas.microsoft.com/office/powerpoint/2010/main" val="1530600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D949978-31BF-4265-B4DC-C473041A5AC7}" type="slidenum">
              <a:rPr lang="en-IN" smtClean="0"/>
              <a:t>8</a:t>
            </a:fld>
            <a:endParaRPr lang="en-IN"/>
          </a:p>
        </p:txBody>
      </p:sp>
    </p:spTree>
    <p:extLst>
      <p:ext uri="{BB962C8B-B14F-4D97-AF65-F5344CB8AC3E}">
        <p14:creationId xmlns:p14="http://schemas.microsoft.com/office/powerpoint/2010/main" val="545689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016/j.ifacol.2025.12.403" TargetMode="External"/><Relationship Id="rId2" Type="http://schemas.openxmlformats.org/officeDocument/2006/relationships/hyperlink" Target="https://doi.org/10.3389/frai.2025.1655470" TargetMode="External"/><Relationship Id="rId1" Type="http://schemas.openxmlformats.org/officeDocument/2006/relationships/slideLayout" Target="../slideLayouts/slideLayout7.xml"/><Relationship Id="rId4" Type="http://schemas.openxmlformats.org/officeDocument/2006/relationships/hyperlink" Target="https://doi.org/10.1016/j.rcim.2023.102581"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16/j.jmsy.2023.10.010" TargetMode="External"/><Relationship Id="rId2" Type="http://schemas.openxmlformats.org/officeDocument/2006/relationships/hyperlink" Target="https://doi.org/10.1016/j.infsof.2022.107008" TargetMode="External"/><Relationship Id="rId1" Type="http://schemas.openxmlformats.org/officeDocument/2006/relationships/slideLayout" Target="../slideLayouts/slideLayout7.xml"/><Relationship Id="rId6" Type="http://schemas.openxmlformats.org/officeDocument/2006/relationships/hyperlink" Target="https://doi.org/10.1038/s41598-024-63990-0" TargetMode="External"/><Relationship Id="rId5" Type="http://schemas.openxmlformats.org/officeDocument/2006/relationships/hyperlink" Target="https://doi.org/10.12688/digitaltwin.17807.2" TargetMode="External"/><Relationship Id="rId4" Type="http://schemas.openxmlformats.org/officeDocument/2006/relationships/hyperlink" Target="https://doi.org/10.1016/j.aei.2024.102800"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31520"/>
            <a:ext cx="10789920" cy="594360"/>
          </a:xfrm>
          <a:prstGeom prst="rect">
            <a:avLst/>
          </a:prstGeom>
          <a:noFill/>
        </p:spPr>
        <p:txBody>
          <a:bodyPr wrap="square" lIns="36576" tIns="18288" rIns="36576" bIns="18288">
            <a:spAutoFit/>
          </a:bodyPr>
          <a:lstStyle/>
          <a:p>
            <a:pPr algn="ctr"/>
            <a:r>
              <a:rPr sz="3100" b="1">
                <a:solidFill>
                  <a:srgbClr val="1F4E79"/>
                </a:solidFill>
                <a:latin typeface="Arial"/>
              </a:rPr>
              <a:t>AgentTwinDefect AI</a:t>
            </a:r>
          </a:p>
        </p:txBody>
      </p:sp>
      <p:sp>
        <p:nvSpPr>
          <p:cNvPr id="4" name="TextBox 3"/>
          <p:cNvSpPr txBox="1"/>
          <p:nvPr/>
        </p:nvSpPr>
        <p:spPr>
          <a:xfrm>
            <a:off x="1143000" y="1417320"/>
            <a:ext cx="9875520" cy="777240"/>
          </a:xfrm>
          <a:prstGeom prst="rect">
            <a:avLst/>
          </a:prstGeom>
          <a:noFill/>
        </p:spPr>
        <p:txBody>
          <a:bodyPr wrap="square" lIns="36576" tIns="18288" rIns="36576" bIns="18288">
            <a:spAutoFit/>
          </a:bodyPr>
          <a:lstStyle/>
          <a:p>
            <a:pPr algn="ctr"/>
            <a:r>
              <a:rPr sz="2100" b="1">
                <a:solidFill>
                  <a:srgbClr val="2E75B5"/>
                </a:solidFill>
                <a:latin typeface="Arial"/>
              </a:rPr>
              <a:t>An Agentic Digital Twin Platform for Real-Time Hidden Defect Prediction in Smart Manufacturing</a:t>
            </a:r>
          </a:p>
        </p:txBody>
      </p:sp>
      <p:sp>
        <p:nvSpPr>
          <p:cNvPr id="5" name="TextBox 4"/>
          <p:cNvSpPr txBox="1"/>
          <p:nvPr/>
        </p:nvSpPr>
        <p:spPr>
          <a:xfrm>
            <a:off x="685800" y="2435576"/>
            <a:ext cx="10789920" cy="1283428"/>
          </a:xfrm>
          <a:prstGeom prst="rect">
            <a:avLst/>
          </a:prstGeom>
          <a:noFill/>
        </p:spPr>
        <p:txBody>
          <a:bodyPr wrap="square" lIns="36576" tIns="18288" rIns="36576" bIns="18288">
            <a:spAutoFit/>
          </a:bodyPr>
          <a:lstStyle/>
          <a:p>
            <a:pPr lvl="0" algn="ctr">
              <a:buClr>
                <a:srgbClr val="C00000"/>
              </a:buClr>
              <a:buSzPts val="3200"/>
            </a:pPr>
            <a:r>
              <a:rPr lang="en-US" sz="2800" b="1" dirty="0">
                <a:solidFill>
                  <a:srgbClr val="C00000"/>
                </a:solidFill>
                <a:latin typeface="Times New Roman"/>
                <a:ea typeface="Times New Roman"/>
                <a:cs typeface="Times New Roman"/>
                <a:sym typeface="Times New Roman"/>
              </a:rPr>
              <a:t>COURSE NAME – </a:t>
            </a:r>
            <a:r>
              <a:rPr lang="en-IN" sz="2800" b="1" dirty="0">
                <a:solidFill>
                  <a:srgbClr val="C00000"/>
                </a:solidFill>
                <a:latin typeface="Times New Roman" panose="02020603050405020304" pitchFamily="18" charset="0"/>
                <a:cs typeface="Times New Roman" panose="02020603050405020304" pitchFamily="18" charset="0"/>
              </a:rPr>
              <a:t>SOA</a:t>
            </a:r>
            <a:r>
              <a:rPr lang="en-IN" sz="2800" b="1" dirty="0">
                <a:solidFill>
                  <a:srgbClr val="FF0000"/>
                </a:solidFill>
                <a:latin typeface="Times New Roman" panose="02020603050405020304" pitchFamily="18" charset="0"/>
                <a:cs typeface="Times New Roman" panose="02020603050405020304" pitchFamily="18" charset="0"/>
              </a:rPr>
              <a:t> </a:t>
            </a:r>
            <a:r>
              <a:rPr lang="en-IN" sz="2800" b="1" dirty="0">
                <a:solidFill>
                  <a:srgbClr val="C00000"/>
                </a:solidFill>
                <a:latin typeface="Times New Roman" panose="02020603050405020304" pitchFamily="18" charset="0"/>
                <a:cs typeface="Times New Roman" panose="02020603050405020304" pitchFamily="18" charset="0"/>
              </a:rPr>
              <a:t>PROGRAMMING AND MICROSERVICES</a:t>
            </a:r>
            <a:endParaRPr lang="en-US" sz="2800" b="1" dirty="0" smtClean="0">
              <a:solidFill>
                <a:srgbClr val="C00000"/>
              </a:solidFill>
              <a:latin typeface="Times New Roman" panose="02020603050405020304" pitchFamily="18" charset="0"/>
              <a:ea typeface="Times New Roman"/>
              <a:cs typeface="Times New Roman" panose="02020603050405020304" pitchFamily="18" charset="0"/>
              <a:sym typeface="Times New Roman"/>
            </a:endParaRPr>
          </a:p>
          <a:p>
            <a:pPr lvl="0" algn="ctr">
              <a:buClr>
                <a:srgbClr val="C00000"/>
              </a:buClr>
              <a:buSzPts val="3200"/>
            </a:pPr>
            <a:r>
              <a:rPr lang="en-US" sz="2800" b="1" dirty="0" smtClean="0">
                <a:solidFill>
                  <a:srgbClr val="C00000"/>
                </a:solidFill>
                <a:latin typeface="Times New Roman"/>
                <a:ea typeface="Times New Roman"/>
                <a:cs typeface="Times New Roman"/>
                <a:sym typeface="Times New Roman"/>
              </a:rPr>
              <a:t>COURSE CODE – </a:t>
            </a:r>
            <a:r>
              <a:rPr lang="en-IN" sz="2800" b="1" dirty="0" smtClean="0">
                <a:solidFill>
                  <a:srgbClr val="C00000"/>
                </a:solidFill>
              </a:rPr>
              <a:t>24SDCS03</a:t>
            </a:r>
          </a:p>
          <a:p>
            <a:pPr lvl="0" algn="ctr">
              <a:buClr>
                <a:srgbClr val="C00000"/>
              </a:buClr>
              <a:buSzPts val="3200"/>
            </a:pPr>
            <a:r>
              <a:rPr sz="2500" b="1" dirty="0" smtClean="0">
                <a:solidFill>
                  <a:srgbClr val="1E1E1E"/>
                </a:solidFill>
                <a:latin typeface="Arial"/>
              </a:rPr>
              <a:t> </a:t>
            </a:r>
            <a:r>
              <a:rPr sz="2500" b="1" dirty="0">
                <a:solidFill>
                  <a:srgbClr val="1E1E1E"/>
                </a:solidFill>
                <a:latin typeface="Arial"/>
              </a:rPr>
              <a:t>PROJECT REVIEW – 2</a:t>
            </a:r>
          </a:p>
        </p:txBody>
      </p:sp>
      <p:sp>
        <p:nvSpPr>
          <p:cNvPr id="7" name="TextBox 6"/>
          <p:cNvSpPr txBox="1"/>
          <p:nvPr/>
        </p:nvSpPr>
        <p:spPr>
          <a:xfrm>
            <a:off x="960120" y="4160520"/>
            <a:ext cx="3108960" cy="274320"/>
          </a:xfrm>
          <a:prstGeom prst="rect">
            <a:avLst/>
          </a:prstGeom>
          <a:noFill/>
        </p:spPr>
        <p:txBody>
          <a:bodyPr wrap="square" lIns="36576" tIns="18288" rIns="36576" bIns="18288">
            <a:spAutoFit/>
          </a:bodyPr>
          <a:lstStyle/>
          <a:p>
            <a:pPr algn="l"/>
            <a:r>
              <a:rPr sz="1600" b="1">
                <a:solidFill>
                  <a:srgbClr val="C00000"/>
                </a:solidFill>
                <a:latin typeface="Arial"/>
              </a:rPr>
              <a:t>Under the Guidance of</a:t>
            </a:r>
          </a:p>
        </p:txBody>
      </p:sp>
      <p:sp>
        <p:nvSpPr>
          <p:cNvPr id="8" name="TextBox 7"/>
          <p:cNvSpPr txBox="1"/>
          <p:nvPr/>
        </p:nvSpPr>
        <p:spPr>
          <a:xfrm>
            <a:off x="960120" y="4498848"/>
            <a:ext cx="3840480" cy="1037207"/>
          </a:xfrm>
          <a:prstGeom prst="rect">
            <a:avLst/>
          </a:prstGeom>
          <a:noFill/>
        </p:spPr>
        <p:txBody>
          <a:bodyPr wrap="square" lIns="36576" tIns="18288" rIns="36576" bIns="18288">
            <a:spAutoFit/>
          </a:bodyPr>
          <a:lstStyle/>
          <a:p>
            <a:pPr algn="l"/>
            <a:r>
              <a:rPr sz="1300" b="1" dirty="0">
                <a:solidFill>
                  <a:srgbClr val="1E1E1E"/>
                </a:solidFill>
                <a:latin typeface="Arial"/>
              </a:rPr>
              <a:t>Dr. </a:t>
            </a:r>
            <a:r>
              <a:rPr sz="1300" b="1" dirty="0" err="1">
                <a:solidFill>
                  <a:srgbClr val="1E1E1E"/>
                </a:solidFill>
                <a:latin typeface="Arial"/>
              </a:rPr>
              <a:t>Srikanth</a:t>
            </a:r>
            <a:r>
              <a:rPr sz="1300" b="1" dirty="0">
                <a:solidFill>
                  <a:srgbClr val="1E1E1E"/>
                </a:solidFill>
                <a:latin typeface="Arial"/>
              </a:rPr>
              <a:t> </a:t>
            </a:r>
            <a:r>
              <a:rPr sz="1300" b="1" dirty="0" err="1">
                <a:solidFill>
                  <a:srgbClr val="1E1E1E"/>
                </a:solidFill>
                <a:latin typeface="Arial"/>
              </a:rPr>
              <a:t>Cherukuvada</a:t>
            </a:r>
            <a:r>
              <a:rPr sz="1300" b="0" dirty="0">
                <a:solidFill>
                  <a:srgbClr val="1E1E1E"/>
                </a:solidFill>
                <a:latin typeface="Arial"/>
              </a:rPr>
              <a:t>
</a:t>
            </a:r>
            <a:r>
              <a:rPr sz="1300" b="1" dirty="0">
                <a:solidFill>
                  <a:srgbClr val="1E1E1E"/>
                </a:solidFill>
                <a:latin typeface="Arial"/>
              </a:rPr>
              <a:t>Assistant Professor
Department of Computer Science and Engineering
KLH CSE </a:t>
            </a:r>
            <a:r>
              <a:rPr sz="1300" b="1" dirty="0" err="1">
                <a:solidFill>
                  <a:srgbClr val="1E1E1E"/>
                </a:solidFill>
                <a:latin typeface="Arial"/>
              </a:rPr>
              <a:t>Bowrampet</a:t>
            </a:r>
            <a:r>
              <a:rPr sz="1300" b="1" dirty="0">
                <a:solidFill>
                  <a:srgbClr val="1E1E1E"/>
                </a:solidFill>
                <a:latin typeface="Arial"/>
              </a:rPr>
              <a:t> Campus</a:t>
            </a:r>
          </a:p>
        </p:txBody>
      </p:sp>
      <p:sp>
        <p:nvSpPr>
          <p:cNvPr id="9" name="TextBox 8"/>
          <p:cNvSpPr txBox="1"/>
          <p:nvPr/>
        </p:nvSpPr>
        <p:spPr>
          <a:xfrm>
            <a:off x="6720840" y="4160520"/>
            <a:ext cx="2926080" cy="274320"/>
          </a:xfrm>
          <a:prstGeom prst="rect">
            <a:avLst/>
          </a:prstGeom>
          <a:noFill/>
        </p:spPr>
        <p:txBody>
          <a:bodyPr wrap="square" lIns="36576" tIns="18288" rIns="36576" bIns="18288">
            <a:spAutoFit/>
          </a:bodyPr>
          <a:lstStyle/>
          <a:p>
            <a:pPr algn="l"/>
            <a:r>
              <a:rPr sz="1600" b="1">
                <a:solidFill>
                  <a:srgbClr val="C00000"/>
                </a:solidFill>
                <a:latin typeface="Arial"/>
              </a:rPr>
              <a:t>TEAM MEMBERS</a:t>
            </a:r>
          </a:p>
        </p:txBody>
      </p:sp>
      <p:sp>
        <p:nvSpPr>
          <p:cNvPr id="10" name="TextBox 9"/>
          <p:cNvSpPr txBox="1"/>
          <p:nvPr/>
        </p:nvSpPr>
        <p:spPr>
          <a:xfrm>
            <a:off x="6720840" y="4498848"/>
            <a:ext cx="4114800" cy="837152"/>
          </a:xfrm>
          <a:prstGeom prst="rect">
            <a:avLst/>
          </a:prstGeom>
          <a:noFill/>
        </p:spPr>
        <p:txBody>
          <a:bodyPr wrap="square" lIns="36576" tIns="18288" rIns="36576" bIns="18288">
            <a:spAutoFit/>
          </a:bodyPr>
          <a:lstStyle/>
          <a:p>
            <a:r>
              <a:rPr lang="en-IN" sz="1300" dirty="0">
                <a:solidFill>
                  <a:srgbClr val="1E1E1E"/>
                </a:solidFill>
                <a:latin typeface="Arial"/>
              </a:rPr>
              <a:t>S. SUSHMITA – </a:t>
            </a:r>
            <a:r>
              <a:rPr lang="en-IN" sz="1300" dirty="0" smtClean="0">
                <a:solidFill>
                  <a:srgbClr val="1E1E1E"/>
                </a:solidFill>
                <a:latin typeface="Arial"/>
              </a:rPr>
              <a:t>2420090076</a:t>
            </a:r>
            <a:r>
              <a:rPr sz="1300" b="0" dirty="0">
                <a:solidFill>
                  <a:srgbClr val="1E1E1E"/>
                </a:solidFill>
                <a:latin typeface="Arial"/>
              </a:rPr>
              <a:t>
P. </a:t>
            </a:r>
            <a:r>
              <a:rPr lang="en-IN" sz="1300" b="0" dirty="0" smtClean="0">
                <a:solidFill>
                  <a:srgbClr val="1E1E1E"/>
                </a:solidFill>
                <a:latin typeface="Arial"/>
              </a:rPr>
              <a:t>GODA </a:t>
            </a:r>
            <a:r>
              <a:rPr sz="1300" b="0" dirty="0" smtClean="0">
                <a:solidFill>
                  <a:srgbClr val="1E1E1E"/>
                </a:solidFill>
                <a:latin typeface="Arial"/>
              </a:rPr>
              <a:t>SAHASRA </a:t>
            </a:r>
            <a:r>
              <a:rPr sz="1300" b="0" dirty="0">
                <a:solidFill>
                  <a:srgbClr val="1E1E1E"/>
                </a:solidFill>
                <a:latin typeface="Arial"/>
              </a:rPr>
              <a:t>– </a:t>
            </a:r>
            <a:r>
              <a:rPr sz="1300" b="0" dirty="0" smtClean="0">
                <a:solidFill>
                  <a:srgbClr val="1E1E1E"/>
                </a:solidFill>
                <a:latin typeface="Arial"/>
              </a:rPr>
              <a:t>2420090128</a:t>
            </a:r>
            <a:endParaRPr lang="en-IN" sz="1300" b="0" dirty="0" smtClean="0">
              <a:solidFill>
                <a:srgbClr val="1E1E1E"/>
              </a:solidFill>
              <a:latin typeface="Arial"/>
            </a:endParaRPr>
          </a:p>
          <a:p>
            <a:r>
              <a:rPr lang="en-IN" sz="1300" dirty="0">
                <a:solidFill>
                  <a:srgbClr val="1E1E1E"/>
                </a:solidFill>
                <a:latin typeface="Arial"/>
              </a:rPr>
              <a:t>K. AMULYA – 2420090132 </a:t>
            </a:r>
            <a:r>
              <a:rPr sz="1300" b="0" dirty="0">
                <a:solidFill>
                  <a:srgbClr val="1E1E1E"/>
                </a:solidFill>
                <a:latin typeface="Arial"/>
              </a:rPr>
              <a:t>
</a:t>
            </a:r>
          </a:p>
        </p:txBody>
      </p:sp>
      <p:sp>
        <p:nvSpPr>
          <p:cNvPr id="11" name="Rectangle 10"/>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a:t>
            </a:r>
          </a:p>
        </p:txBody>
      </p:sp>
      <p:pic>
        <p:nvPicPr>
          <p:cNvPr id="14" name="Picture 13"/>
          <p:cNvPicPr>
            <a:picLocks noChangeAspect="1"/>
          </p:cNvPicPr>
          <p:nvPr/>
        </p:nvPicPr>
        <p:blipFill>
          <a:blip r:embed="rId2"/>
          <a:stretch>
            <a:fillRect/>
          </a:stretch>
        </p:blipFill>
        <p:spPr>
          <a:xfrm>
            <a:off x="0" y="73152"/>
            <a:ext cx="1779652" cy="82296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PROBLEM </a:t>
            </a:r>
            <a:r>
              <a:rPr sz="2700" b="1" dirty="0" smtClean="0">
                <a:solidFill>
                  <a:srgbClr val="1F4E79"/>
                </a:solidFill>
                <a:latin typeface="Arial"/>
              </a:rPr>
              <a:t>STATEMENT</a:t>
            </a:r>
            <a:endParaRPr sz="2700" b="1" dirty="0">
              <a:solidFill>
                <a:srgbClr val="1F4E79"/>
              </a:solidFill>
              <a:latin typeface="Arial"/>
            </a:endParaRP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3</a:t>
            </a:r>
          </a:p>
        </p:txBody>
      </p:sp>
      <p:pic>
        <p:nvPicPr>
          <p:cNvPr id="37" name="Picture 36"/>
          <p:cNvPicPr>
            <a:picLocks noChangeAspect="1"/>
          </p:cNvPicPr>
          <p:nvPr/>
        </p:nvPicPr>
        <p:blipFill>
          <a:blip r:embed="rId2"/>
          <a:stretch>
            <a:fillRect/>
          </a:stretch>
        </p:blipFill>
        <p:spPr>
          <a:xfrm>
            <a:off x="10543945" y="100425"/>
            <a:ext cx="1648055" cy="762106"/>
          </a:xfrm>
          <a:prstGeom prst="rect">
            <a:avLst/>
          </a:prstGeom>
        </p:spPr>
      </p:pic>
      <p:sp>
        <p:nvSpPr>
          <p:cNvPr id="20" name="Rectangle 19"/>
          <p:cNvSpPr/>
          <p:nvPr/>
        </p:nvSpPr>
        <p:spPr>
          <a:xfrm>
            <a:off x="594360" y="969264"/>
            <a:ext cx="10151533" cy="440120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Modern smart manufacturing systems generate large volumes of heterogeneous, real-time data from sensors, machines, and production processes. Although Digital Twins and Machine Learning can be used for process monitoring and defect prediction, existing approaches often operate as separate systems and primarily focus on detecting anomalies or predicting failures. They provide limited support for identifying the probable root causes of hidden product defects and evaluating corrective actions before applying them to the physical process</a:t>
            </a: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key problem is therefore the absence of an integrated, real-time and intelligent framework that can continuously monitor manufacturing processes, predict emerging defects, reason about their possible causes, simulate alternative corrective actions using a Digital Twin, and recommend an appropriate intervention. </a:t>
            </a:r>
            <a:r>
              <a:rPr lang="en-US" sz="2000" dirty="0" err="1">
                <a:latin typeface="Times New Roman" panose="02020603050405020304" pitchFamily="18" charset="0"/>
                <a:cs typeface="Times New Roman" panose="02020603050405020304" pitchFamily="18" charset="0"/>
              </a:rPr>
              <a:t>AgentTwinDefect</a:t>
            </a:r>
            <a:r>
              <a:rPr lang="en-US" sz="2000" dirty="0">
                <a:latin typeface="Times New Roman" panose="02020603050405020304" pitchFamily="18" charset="0"/>
                <a:cs typeface="Times New Roman" panose="02020603050405020304" pitchFamily="18" charset="0"/>
              </a:rPr>
              <a:t> AI addresses this gap by combining an Agentic AI layer with a Digital Twin and predictive models to establish a closed-loop workflow from process monitoring and defect prediction to diagnosis, what-if simulation, and corrective-action recommendation.</a:t>
            </a:r>
          </a:p>
        </p:txBody>
      </p:sp>
    </p:spTree>
    <p:extLst>
      <p:ext uri="{BB962C8B-B14F-4D97-AF65-F5344CB8AC3E}">
        <p14:creationId xmlns:p14="http://schemas.microsoft.com/office/powerpoint/2010/main" val="31693135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smtClean="0">
                <a:solidFill>
                  <a:srgbClr val="1F4E79"/>
                </a:solidFill>
                <a:latin typeface="Arial"/>
              </a:rPr>
              <a:t>RELEVANCE</a:t>
            </a:r>
            <a:r>
              <a:rPr lang="en-IN" sz="2700" b="1" dirty="0" smtClean="0">
                <a:solidFill>
                  <a:srgbClr val="1F4E79"/>
                </a:solidFill>
                <a:latin typeface="Arial"/>
              </a:rPr>
              <a:t> TO PROJECT TITLE</a:t>
            </a:r>
            <a:endParaRPr sz="2700" b="1" dirty="0">
              <a:solidFill>
                <a:srgbClr val="1F4E79"/>
              </a:solidFill>
              <a:latin typeface="Arial"/>
            </a:endParaRPr>
          </a:p>
        </p:txBody>
      </p:sp>
      <p:sp>
        <p:nvSpPr>
          <p:cNvPr id="4" name="TextBox 3"/>
          <p:cNvSpPr txBox="1"/>
          <p:nvPr/>
        </p:nvSpPr>
        <p:spPr>
          <a:xfrm>
            <a:off x="608348" y="698183"/>
            <a:ext cx="10698480" cy="252377"/>
          </a:xfrm>
          <a:prstGeom prst="rect">
            <a:avLst/>
          </a:prstGeom>
          <a:noFill/>
        </p:spPr>
        <p:txBody>
          <a:bodyPr wrap="square" lIns="36576" tIns="18288" rIns="36576" bIns="18288">
            <a:spAutoFit/>
          </a:bodyPr>
          <a:lstStyle/>
          <a:p>
            <a:pPr algn="l"/>
            <a:r>
              <a:rPr sz="1200" b="0" dirty="0">
                <a:latin typeface="Arial"/>
              </a:rPr>
              <a:t>Why </a:t>
            </a:r>
            <a:r>
              <a:rPr sz="1400" b="1" dirty="0" err="1">
                <a:latin typeface="Arial"/>
              </a:rPr>
              <a:t>AgentTwinDefect</a:t>
            </a:r>
            <a:r>
              <a:rPr sz="1400" b="1" dirty="0">
                <a:latin typeface="Arial"/>
              </a:rPr>
              <a:t> AI </a:t>
            </a:r>
            <a:r>
              <a:rPr sz="1200" b="0" dirty="0">
                <a:latin typeface="Arial"/>
              </a:rPr>
              <a:t>is aligned with </a:t>
            </a:r>
            <a:r>
              <a:rPr lang="en-IN" sz="1200" dirty="0" smtClean="0">
                <a:latin typeface="Arial"/>
              </a:rPr>
              <a:t>OUR</a:t>
            </a:r>
            <a:r>
              <a:rPr sz="1200" b="0" dirty="0" smtClean="0">
                <a:latin typeface="Arial"/>
              </a:rPr>
              <a:t> </a:t>
            </a:r>
            <a:r>
              <a:rPr lang="en-IN" sz="1200" b="0" dirty="0" smtClean="0">
                <a:latin typeface="Arial"/>
              </a:rPr>
              <a:t>PROJECT</a:t>
            </a:r>
            <a:r>
              <a:rPr sz="1200" b="0" dirty="0" smtClean="0">
                <a:latin typeface="Arial"/>
              </a:rPr>
              <a:t> </a:t>
            </a:r>
            <a:r>
              <a:rPr lang="en-IN" sz="1200" b="0" dirty="0" smtClean="0">
                <a:latin typeface="Arial"/>
              </a:rPr>
              <a:t>TITLE</a:t>
            </a:r>
            <a:endParaRPr sz="1200" b="0" dirty="0">
              <a:latin typeface="Arial"/>
            </a:endParaRPr>
          </a:p>
        </p:txBody>
      </p:sp>
      <p:sp>
        <p:nvSpPr>
          <p:cNvPr id="7" name="TextBox 6"/>
          <p:cNvSpPr txBox="1"/>
          <p:nvPr/>
        </p:nvSpPr>
        <p:spPr>
          <a:xfrm>
            <a:off x="11091672" y="6647688"/>
            <a:ext cx="457200" cy="201168"/>
          </a:xfrm>
          <a:prstGeom prst="rect">
            <a:avLst/>
          </a:prstGeom>
          <a:noFill/>
        </p:spPr>
        <p:txBody>
          <a:bodyPr wrap="none">
            <a:spAutoFit/>
          </a:bodyPr>
          <a:lstStyle/>
          <a:p>
            <a:pPr algn="r"/>
            <a:r>
              <a:rPr sz="900">
                <a:solidFill>
                  <a:srgbClr val="646464"/>
                </a:solidFill>
                <a:latin typeface="Arial"/>
              </a:rPr>
              <a:t>3</a:t>
            </a:r>
          </a:p>
        </p:txBody>
      </p:sp>
      <p:sp>
        <p:nvSpPr>
          <p:cNvPr id="21" name="Rounded Rectangle 20"/>
          <p:cNvSpPr/>
          <p:nvPr/>
        </p:nvSpPr>
        <p:spPr>
          <a:xfrm>
            <a:off x="620438" y="5520278"/>
            <a:ext cx="2340864" cy="1229867"/>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740" y="5608580"/>
            <a:ext cx="2088253" cy="236988"/>
          </a:xfrm>
          <a:prstGeom prst="rect">
            <a:avLst/>
          </a:prstGeom>
          <a:noFill/>
        </p:spPr>
        <p:txBody>
          <a:bodyPr wrap="square" lIns="36576" tIns="18288" rIns="36576" bIns="18288">
            <a:spAutoFit/>
          </a:bodyPr>
          <a:lstStyle/>
          <a:p>
            <a:pPr algn="l"/>
            <a:r>
              <a:rPr sz="1300" b="1" dirty="0">
                <a:solidFill>
                  <a:srgbClr val="705091"/>
                </a:solidFill>
                <a:latin typeface="Arial"/>
              </a:rPr>
              <a:t>Agentic</a:t>
            </a:r>
          </a:p>
        </p:txBody>
      </p:sp>
      <p:sp>
        <p:nvSpPr>
          <p:cNvPr id="24" name="TextBox 23"/>
          <p:cNvSpPr txBox="1"/>
          <p:nvPr/>
        </p:nvSpPr>
        <p:spPr>
          <a:xfrm>
            <a:off x="722444" y="5986041"/>
            <a:ext cx="2088253" cy="366254"/>
          </a:xfrm>
          <a:prstGeom prst="rect">
            <a:avLst/>
          </a:prstGeom>
          <a:noFill/>
        </p:spPr>
        <p:txBody>
          <a:bodyPr wrap="square" lIns="36576" tIns="18288" rIns="36576" bIns="18288">
            <a:spAutoFit/>
          </a:bodyPr>
          <a:lstStyle/>
          <a:p>
            <a:pPr algn="l"/>
            <a:r>
              <a:rPr sz="1070" b="0" dirty="0">
                <a:solidFill>
                  <a:srgbClr val="1E1E1E"/>
                </a:solidFill>
                <a:latin typeface="Arial"/>
              </a:rPr>
              <a:t>Autonomous reasoning + task-specific agents</a:t>
            </a:r>
          </a:p>
        </p:txBody>
      </p:sp>
      <p:sp>
        <p:nvSpPr>
          <p:cNvPr id="25" name="Rounded Rectangle 24"/>
          <p:cNvSpPr/>
          <p:nvPr/>
        </p:nvSpPr>
        <p:spPr>
          <a:xfrm>
            <a:off x="3331803" y="5472271"/>
            <a:ext cx="2542032" cy="1325880"/>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83695" y="5609352"/>
            <a:ext cx="2267712" cy="274320"/>
          </a:xfrm>
          <a:prstGeom prst="rect">
            <a:avLst/>
          </a:prstGeom>
          <a:noFill/>
        </p:spPr>
        <p:txBody>
          <a:bodyPr wrap="square" lIns="36576" tIns="18288" rIns="36576" bIns="18288">
            <a:spAutoFit/>
          </a:bodyPr>
          <a:lstStyle/>
          <a:p>
            <a:pPr algn="l"/>
            <a:r>
              <a:rPr sz="1300" b="1" dirty="0">
                <a:solidFill>
                  <a:srgbClr val="2E75B5"/>
                </a:solidFill>
                <a:latin typeface="Arial"/>
              </a:rPr>
              <a:t>Digital Twin</a:t>
            </a:r>
          </a:p>
        </p:txBody>
      </p:sp>
      <p:sp>
        <p:nvSpPr>
          <p:cNvPr id="28" name="TextBox 27"/>
          <p:cNvSpPr txBox="1"/>
          <p:nvPr/>
        </p:nvSpPr>
        <p:spPr>
          <a:xfrm>
            <a:off x="3483695" y="5955963"/>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Virtual process state + what-if simulation</a:t>
            </a:r>
          </a:p>
        </p:txBody>
      </p:sp>
      <p:sp>
        <p:nvSpPr>
          <p:cNvPr id="29" name="Rounded Rectangle 28"/>
          <p:cNvSpPr/>
          <p:nvPr/>
        </p:nvSpPr>
        <p:spPr>
          <a:xfrm>
            <a:off x="6204119" y="5461774"/>
            <a:ext cx="2542032" cy="1325880"/>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8110" y="5576722"/>
            <a:ext cx="2267712" cy="274320"/>
          </a:xfrm>
          <a:prstGeom prst="rect">
            <a:avLst/>
          </a:prstGeom>
          <a:noFill/>
        </p:spPr>
        <p:txBody>
          <a:bodyPr wrap="square" lIns="36576" tIns="18288" rIns="36576" bIns="18288">
            <a:spAutoFit/>
          </a:bodyPr>
          <a:lstStyle/>
          <a:p>
            <a:pPr algn="l"/>
            <a:r>
              <a:rPr sz="1300" b="1">
                <a:solidFill>
                  <a:srgbClr val="C00000"/>
                </a:solidFill>
                <a:latin typeface="Arial"/>
              </a:rPr>
              <a:t>Defect</a:t>
            </a:r>
          </a:p>
        </p:txBody>
      </p:sp>
      <p:sp>
        <p:nvSpPr>
          <p:cNvPr id="32" name="TextBox 31"/>
          <p:cNvSpPr txBox="1"/>
          <p:nvPr/>
        </p:nvSpPr>
        <p:spPr>
          <a:xfrm>
            <a:off x="6408928" y="5940815"/>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Emerging / hidden product-quality anomaly</a:t>
            </a:r>
          </a:p>
        </p:txBody>
      </p:sp>
      <p:sp>
        <p:nvSpPr>
          <p:cNvPr id="33" name="Rounded Rectangle 32"/>
          <p:cNvSpPr/>
          <p:nvPr/>
        </p:nvSpPr>
        <p:spPr>
          <a:xfrm>
            <a:off x="9076435" y="5439168"/>
            <a:ext cx="2542032" cy="1325880"/>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41027" y="5566177"/>
            <a:ext cx="2267712" cy="274320"/>
          </a:xfrm>
          <a:prstGeom prst="rect">
            <a:avLst/>
          </a:prstGeom>
          <a:noFill/>
        </p:spPr>
        <p:txBody>
          <a:bodyPr wrap="square" lIns="36576" tIns="18288" rIns="36576" bIns="18288">
            <a:spAutoFit/>
          </a:bodyPr>
          <a:lstStyle/>
          <a:p>
            <a:pPr algn="l"/>
            <a:r>
              <a:rPr sz="1300" b="1">
                <a:solidFill>
                  <a:srgbClr val="468264"/>
                </a:solidFill>
                <a:latin typeface="Arial"/>
              </a:rPr>
              <a:t>AI</a:t>
            </a:r>
          </a:p>
        </p:txBody>
      </p:sp>
      <p:sp>
        <p:nvSpPr>
          <p:cNvPr id="36" name="TextBox 35"/>
          <p:cNvSpPr txBox="1"/>
          <p:nvPr/>
        </p:nvSpPr>
        <p:spPr>
          <a:xfrm>
            <a:off x="9241027" y="5916576"/>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Prediction + diagnosis + decision support</a:t>
            </a:r>
          </a:p>
        </p:txBody>
      </p:sp>
      <p:pic>
        <p:nvPicPr>
          <p:cNvPr id="37" name="Picture 36"/>
          <p:cNvPicPr>
            <a:picLocks noChangeAspect="1"/>
          </p:cNvPicPr>
          <p:nvPr/>
        </p:nvPicPr>
        <p:blipFill>
          <a:blip r:embed="rId2"/>
          <a:stretch>
            <a:fillRect/>
          </a:stretch>
        </p:blipFill>
        <p:spPr>
          <a:xfrm>
            <a:off x="10543945" y="100425"/>
            <a:ext cx="1648055" cy="762106"/>
          </a:xfrm>
          <a:prstGeom prst="rect">
            <a:avLst/>
          </a:prstGeom>
        </p:spPr>
      </p:pic>
      <p:graphicFrame>
        <p:nvGraphicFramePr>
          <p:cNvPr id="20" name="Table 19"/>
          <p:cNvGraphicFramePr>
            <a:graphicFrameLocks noGrp="1"/>
          </p:cNvGraphicFramePr>
          <p:nvPr>
            <p:extLst>
              <p:ext uri="{D42A27DB-BD31-4B8C-83A1-F6EECF244321}">
                <p14:modId xmlns:p14="http://schemas.microsoft.com/office/powerpoint/2010/main" val="2764732264"/>
              </p:ext>
            </p:extLst>
          </p:nvPr>
        </p:nvGraphicFramePr>
        <p:xfrm>
          <a:off x="638151" y="931895"/>
          <a:ext cx="10100290" cy="4533499"/>
        </p:xfrm>
        <a:graphic>
          <a:graphicData uri="http://schemas.openxmlformats.org/drawingml/2006/table">
            <a:tbl>
              <a:tblPr/>
              <a:tblGrid>
                <a:gridCol w="5050145">
                  <a:extLst>
                    <a:ext uri="{9D8B030D-6E8A-4147-A177-3AD203B41FA5}">
                      <a16:colId xmlns:a16="http://schemas.microsoft.com/office/drawing/2014/main" val="324644768"/>
                    </a:ext>
                  </a:extLst>
                </a:gridCol>
                <a:gridCol w="5050145">
                  <a:extLst>
                    <a:ext uri="{9D8B030D-6E8A-4147-A177-3AD203B41FA5}">
                      <a16:colId xmlns:a16="http://schemas.microsoft.com/office/drawing/2014/main" val="3441639068"/>
                    </a:ext>
                  </a:extLst>
                </a:gridCol>
              </a:tblGrid>
              <a:tr h="253847">
                <a:tc>
                  <a:txBody>
                    <a:bodyPr/>
                    <a:lstStyle/>
                    <a:p>
                      <a:r>
                        <a:rPr lang="en-IN" sz="1300" b="1" dirty="0">
                          <a:latin typeface="Times New Roman" panose="02020603050405020304" pitchFamily="18" charset="0"/>
                          <a:cs typeface="Times New Roman" panose="02020603050405020304" pitchFamily="18" charset="0"/>
                        </a:rPr>
                        <a:t>Title Component</a:t>
                      </a:r>
                    </a:p>
                  </a:txBody>
                  <a:tcPr marL="65594" marR="65594" marT="32797" marB="32797" anchor="ctr">
                    <a:lnL>
                      <a:noFill/>
                    </a:lnL>
                    <a:lnR>
                      <a:noFill/>
                    </a:lnR>
                    <a:lnT>
                      <a:noFill/>
                    </a:lnT>
                    <a:lnB>
                      <a:noFill/>
                    </a:lnB>
                  </a:tcPr>
                </a:tc>
                <a:tc>
                  <a:txBody>
                    <a:bodyPr/>
                    <a:lstStyle/>
                    <a:p>
                      <a:r>
                        <a:rPr lang="en-IN" sz="1300" b="1" dirty="0">
                          <a:latin typeface="Times New Roman" panose="02020603050405020304" pitchFamily="18" charset="0"/>
                          <a:cs typeface="Times New Roman" panose="02020603050405020304" pitchFamily="18" charset="0"/>
                        </a:rPr>
                        <a:t>Relevance to Our Project</a:t>
                      </a:r>
                    </a:p>
                  </a:txBody>
                  <a:tcPr marL="65594" marR="65594" marT="32797" marB="32797" anchor="ctr">
                    <a:lnL>
                      <a:noFill/>
                    </a:lnL>
                    <a:lnR>
                      <a:noFill/>
                    </a:lnR>
                    <a:lnT>
                      <a:noFill/>
                    </a:lnT>
                    <a:lnB>
                      <a:noFill/>
                    </a:lnB>
                  </a:tcPr>
                </a:tc>
                <a:extLst>
                  <a:ext uri="{0D108BD9-81ED-4DB2-BD59-A6C34878D82A}">
                    <a16:rowId xmlns:a16="http://schemas.microsoft.com/office/drawing/2014/main" val="895554042"/>
                  </a:ext>
                </a:extLst>
              </a:tr>
              <a:tr h="820813">
                <a:tc>
                  <a:txBody>
                    <a:bodyPr/>
                    <a:lstStyle/>
                    <a:p>
                      <a:r>
                        <a:rPr lang="en-IN" sz="1600" b="1" dirty="0">
                          <a:latin typeface="Times New Roman" panose="02020603050405020304" pitchFamily="18" charset="0"/>
                          <a:cs typeface="Times New Roman" panose="02020603050405020304" pitchFamily="18" charset="0"/>
                        </a:rPr>
                        <a:t>Agentic</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Provides task-oriented reasoning to analyze predicted defects, investigate probable causes, and support corrective-action decisions.</a:t>
                      </a:r>
                    </a:p>
                  </a:txBody>
                  <a:tcPr marL="65594" marR="65594" marT="32797" marB="32797" anchor="ctr">
                    <a:lnL>
                      <a:noFill/>
                    </a:lnL>
                    <a:lnR>
                      <a:noFill/>
                    </a:lnR>
                    <a:lnT>
                      <a:noFill/>
                    </a:lnT>
                    <a:lnB>
                      <a:noFill/>
                    </a:lnB>
                  </a:tcPr>
                </a:tc>
                <a:extLst>
                  <a:ext uri="{0D108BD9-81ED-4DB2-BD59-A6C34878D82A}">
                    <a16:rowId xmlns:a16="http://schemas.microsoft.com/office/drawing/2014/main" val="1050482883"/>
                  </a:ext>
                </a:extLst>
              </a:tr>
              <a:tr h="767290">
                <a:tc>
                  <a:txBody>
                    <a:bodyPr/>
                    <a:lstStyle/>
                    <a:p>
                      <a:r>
                        <a:rPr lang="en-IN" sz="1600" b="1" dirty="0">
                          <a:latin typeface="Times New Roman" panose="02020603050405020304" pitchFamily="18" charset="0"/>
                          <a:cs typeface="Times New Roman" panose="02020603050405020304" pitchFamily="18" charset="0"/>
                        </a:rPr>
                        <a:t>Digital Twin</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Maintains a virtual representation of the manufacturing process and enables </a:t>
                      </a:r>
                      <a:r>
                        <a:rPr lang="en-US" sz="1600" b="1" dirty="0">
                          <a:latin typeface="Times New Roman" panose="02020603050405020304" pitchFamily="18" charset="0"/>
                          <a:cs typeface="Times New Roman" panose="02020603050405020304" pitchFamily="18" charset="0"/>
                        </a:rPr>
                        <a:t>what-if simulation</a:t>
                      </a:r>
                      <a:r>
                        <a:rPr lang="en-US" sz="1600" dirty="0">
                          <a:latin typeface="Times New Roman" panose="02020603050405020304" pitchFamily="18" charset="0"/>
                          <a:cs typeface="Times New Roman" panose="02020603050405020304" pitchFamily="18" charset="0"/>
                        </a:rPr>
                        <a:t> of process conditions.</a:t>
                      </a:r>
                    </a:p>
                  </a:txBody>
                  <a:tcPr marL="65594" marR="65594" marT="32797" marB="32797" anchor="ctr">
                    <a:lnL>
                      <a:noFill/>
                    </a:lnL>
                    <a:lnR>
                      <a:noFill/>
                    </a:lnR>
                    <a:lnT>
                      <a:noFill/>
                    </a:lnT>
                    <a:lnB>
                      <a:noFill/>
                    </a:lnB>
                  </a:tcPr>
                </a:tc>
                <a:extLst>
                  <a:ext uri="{0D108BD9-81ED-4DB2-BD59-A6C34878D82A}">
                    <a16:rowId xmlns:a16="http://schemas.microsoft.com/office/drawing/2014/main" val="4248792346"/>
                  </a:ext>
                </a:extLst>
              </a:tr>
              <a:tr h="820813">
                <a:tc>
                  <a:txBody>
                    <a:bodyPr/>
                    <a:lstStyle/>
                    <a:p>
                      <a:r>
                        <a:rPr lang="en-IN" sz="1600" b="1">
                          <a:latin typeface="Times New Roman" panose="02020603050405020304" pitchFamily="18" charset="0"/>
                          <a:cs typeface="Times New Roman" panose="02020603050405020304" pitchFamily="18" charset="0"/>
                        </a:rPr>
                        <a:t>Defect Prediction</a:t>
                      </a:r>
                      <a:endParaRPr lang="en-IN" sz="160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Uses ML models and process/sensor data to identify patterns associated with emerging or hidden product-quality defects.</a:t>
                      </a:r>
                    </a:p>
                  </a:txBody>
                  <a:tcPr marL="65594" marR="65594" marT="32797" marB="32797" anchor="ctr">
                    <a:lnL>
                      <a:noFill/>
                    </a:lnL>
                    <a:lnR>
                      <a:noFill/>
                    </a:lnR>
                    <a:lnT>
                      <a:noFill/>
                    </a:lnT>
                    <a:lnB>
                      <a:noFill/>
                    </a:lnB>
                  </a:tcPr>
                </a:tc>
                <a:extLst>
                  <a:ext uri="{0D108BD9-81ED-4DB2-BD59-A6C34878D82A}">
                    <a16:rowId xmlns:a16="http://schemas.microsoft.com/office/drawing/2014/main" val="2162961703"/>
                  </a:ext>
                </a:extLst>
              </a:tr>
              <a:tr h="820813">
                <a:tc>
                  <a:txBody>
                    <a:bodyPr/>
                    <a:lstStyle/>
                    <a:p>
                      <a:r>
                        <a:rPr lang="en-IN" sz="1600" b="1">
                          <a:latin typeface="Times New Roman" panose="02020603050405020304" pitchFamily="18" charset="0"/>
                          <a:cs typeface="Times New Roman" panose="02020603050405020304" pitchFamily="18" charset="0"/>
                        </a:rPr>
                        <a:t>Real-Time</a:t>
                      </a:r>
                      <a:endParaRPr lang="en-IN" sz="160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Enables continuous processing of incoming manufacturing data so that defect risks can be identified with minimal delay.</a:t>
                      </a:r>
                    </a:p>
                  </a:txBody>
                  <a:tcPr marL="65594" marR="65594" marT="32797" marB="32797" anchor="ctr">
                    <a:lnL>
                      <a:noFill/>
                    </a:lnL>
                    <a:lnR>
                      <a:noFill/>
                    </a:lnR>
                    <a:lnT>
                      <a:noFill/>
                    </a:lnT>
                    <a:lnB>
                      <a:noFill/>
                    </a:lnB>
                  </a:tcPr>
                </a:tc>
                <a:extLst>
                  <a:ext uri="{0D108BD9-81ED-4DB2-BD59-A6C34878D82A}">
                    <a16:rowId xmlns:a16="http://schemas.microsoft.com/office/drawing/2014/main" val="3280317788"/>
                  </a:ext>
                </a:extLst>
              </a:tr>
              <a:tr h="1010232">
                <a:tc>
                  <a:txBody>
                    <a:bodyPr/>
                    <a:lstStyle/>
                    <a:p>
                      <a:r>
                        <a:rPr lang="en-IN" sz="1600" b="1" dirty="0">
                          <a:latin typeface="Times New Roman" panose="02020603050405020304" pitchFamily="18" charset="0"/>
                          <a:cs typeface="Times New Roman" panose="02020603050405020304" pitchFamily="18" charset="0"/>
                        </a:rPr>
                        <a:t>Smart Manufacturing</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Targets data-driven, connected manufacturing environments where process monitoring, prediction, simulation, and decision support are integrated.</a:t>
                      </a:r>
                    </a:p>
                  </a:txBody>
                  <a:tcPr marL="65594" marR="65594" marT="32797" marB="32797" anchor="ctr">
                    <a:lnL>
                      <a:noFill/>
                    </a:lnL>
                    <a:lnR>
                      <a:noFill/>
                    </a:lnR>
                    <a:lnT>
                      <a:noFill/>
                    </a:lnT>
                    <a:lnB>
                      <a:noFill/>
                    </a:lnB>
                  </a:tcPr>
                </a:tc>
                <a:extLst>
                  <a:ext uri="{0D108BD9-81ED-4DB2-BD59-A6C34878D82A}">
                    <a16:rowId xmlns:a16="http://schemas.microsoft.com/office/drawing/2014/main" val="1234000821"/>
                  </a:ext>
                </a:extLst>
              </a:tr>
            </a:tbl>
          </a:graphicData>
        </a:graphic>
      </p:graphicFrame>
    </p:spTree>
    <p:extLst>
      <p:ext uri="{BB962C8B-B14F-4D97-AF65-F5344CB8AC3E}">
        <p14:creationId xmlns:p14="http://schemas.microsoft.com/office/powerpoint/2010/main" val="24529063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SIGNIFICANCE OF THE PROJECT</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4</a:t>
            </a:r>
          </a:p>
        </p:txBody>
      </p:sp>
      <p:pic>
        <p:nvPicPr>
          <p:cNvPr id="35" name="Picture 34"/>
          <p:cNvPicPr>
            <a:picLocks noChangeAspect="1"/>
          </p:cNvPicPr>
          <p:nvPr/>
        </p:nvPicPr>
        <p:blipFill>
          <a:blip r:embed="rId3"/>
          <a:stretch>
            <a:fillRect/>
          </a:stretch>
        </p:blipFill>
        <p:spPr>
          <a:xfrm>
            <a:off x="10543640" y="85291"/>
            <a:ext cx="1648055" cy="762106"/>
          </a:xfrm>
          <a:prstGeom prst="rect">
            <a:avLst/>
          </a:prstGeom>
        </p:spPr>
      </p:pic>
      <p:sp>
        <p:nvSpPr>
          <p:cNvPr id="6" name="Rectangle 5"/>
          <p:cNvSpPr/>
          <p:nvPr/>
        </p:nvSpPr>
        <p:spPr>
          <a:xfrm>
            <a:off x="594360" y="872167"/>
            <a:ext cx="10835640" cy="5324535"/>
          </a:xfrm>
          <a:prstGeom prst="rect">
            <a:avLst/>
          </a:prstGeom>
        </p:spPr>
        <p:txBody>
          <a:bodyPr wrap="square">
            <a:spAutoFit/>
          </a:bodyPr>
          <a:lstStyle/>
          <a:p>
            <a:pPr marL="342900" indent="-342900">
              <a:buAutoNum type="arabicPeriod"/>
            </a:pPr>
            <a:r>
              <a:rPr lang="en-US" sz="2000" b="1" dirty="0" smtClean="0"/>
              <a:t>Early </a:t>
            </a:r>
            <a:r>
              <a:rPr lang="en-US" sz="2000" b="1" dirty="0"/>
              <a:t>Defect Detection</a:t>
            </a:r>
            <a:r>
              <a:rPr lang="en-US" sz="2000" dirty="0"/>
              <a:t/>
            </a:r>
            <a:br>
              <a:rPr lang="en-US" sz="2000" dirty="0"/>
            </a:br>
            <a:r>
              <a:rPr lang="en-US" sz="2000" dirty="0"/>
              <a:t>Predict emerging defects before they propagate into downstream quality failures</a:t>
            </a:r>
            <a:r>
              <a:rPr lang="en-US" sz="2000" dirty="0" smtClean="0"/>
              <a:t>.</a:t>
            </a:r>
          </a:p>
          <a:p>
            <a:pPr marL="342900" indent="-342900">
              <a:buAutoNum type="arabicPeriod"/>
            </a:pPr>
            <a:endParaRPr lang="en-US" sz="2000" dirty="0"/>
          </a:p>
          <a:p>
            <a:r>
              <a:rPr lang="en-US" sz="2000" b="1" dirty="0"/>
              <a:t>2. Root-Cause Intelligence</a:t>
            </a:r>
            <a:r>
              <a:rPr lang="en-US" sz="2000" dirty="0"/>
              <a:t/>
            </a:r>
            <a:br>
              <a:rPr lang="en-US" sz="2000" dirty="0"/>
            </a:br>
            <a:r>
              <a:rPr lang="en-US" sz="2000" dirty="0"/>
              <a:t>Go beyond prediction by identifying probable process factors contributing to the defect</a:t>
            </a:r>
            <a:r>
              <a:rPr lang="en-US" sz="2000" dirty="0" smtClean="0"/>
              <a:t>.</a:t>
            </a:r>
          </a:p>
          <a:p>
            <a:endParaRPr lang="en-US" sz="2000" dirty="0"/>
          </a:p>
          <a:p>
            <a:r>
              <a:rPr lang="en-US" sz="2000" b="1" dirty="0"/>
              <a:t>3. What-If </a:t>
            </a:r>
            <a:r>
              <a:rPr lang="en-US" sz="2000" b="1" dirty="0" smtClean="0"/>
              <a:t>Simulation</a:t>
            </a:r>
          </a:p>
          <a:p>
            <a:r>
              <a:rPr lang="en-US" sz="2000" dirty="0" smtClean="0"/>
              <a:t> Use </a:t>
            </a:r>
            <a:r>
              <a:rPr lang="en-US" sz="2000" dirty="0"/>
              <a:t>the Digital Twin to test corrective actions virtually before changing the physical process</a:t>
            </a:r>
            <a:r>
              <a:rPr lang="en-US" sz="2000" dirty="0" smtClean="0"/>
              <a:t>.</a:t>
            </a:r>
          </a:p>
          <a:p>
            <a:endParaRPr lang="en-US" sz="2000" dirty="0"/>
          </a:p>
          <a:p>
            <a:r>
              <a:rPr lang="en-US" sz="2000" b="1" dirty="0"/>
              <a:t>4. Intelligent Decision Support</a:t>
            </a:r>
            <a:r>
              <a:rPr lang="en-US" sz="2000" dirty="0"/>
              <a:t/>
            </a:r>
            <a:br>
              <a:rPr lang="en-US" sz="2000" dirty="0"/>
            </a:br>
            <a:r>
              <a:rPr lang="en-US" sz="2000" dirty="0"/>
              <a:t>Agentic AI connects prediction, diagnosis, simulation, and recommendation</a:t>
            </a:r>
            <a:r>
              <a:rPr lang="en-US" sz="2000" dirty="0" smtClean="0"/>
              <a:t>.</a:t>
            </a:r>
          </a:p>
          <a:p>
            <a:endParaRPr lang="en-US" sz="2000" dirty="0"/>
          </a:p>
          <a:p>
            <a:r>
              <a:rPr lang="en-US" sz="2000" b="1" dirty="0"/>
              <a:t>5. Reduced Quality Loss</a:t>
            </a:r>
            <a:r>
              <a:rPr lang="en-US" sz="2000" dirty="0"/>
              <a:t/>
            </a:r>
            <a:br>
              <a:rPr lang="en-US" sz="2000" dirty="0"/>
            </a:br>
            <a:r>
              <a:rPr lang="en-US" sz="2000" dirty="0"/>
              <a:t>Potentially reduce rework, scrap, downtime, and trial-and-error interventions</a:t>
            </a:r>
            <a:r>
              <a:rPr lang="en-US" sz="2000" dirty="0" smtClean="0"/>
              <a:t>.</a:t>
            </a:r>
          </a:p>
          <a:p>
            <a:endParaRPr lang="en-US" sz="2000" dirty="0"/>
          </a:p>
          <a:p>
            <a:r>
              <a:rPr lang="en-US" sz="2000" b="1" dirty="0"/>
              <a:t>6. Scalable Smart-Manufacturing Foundation</a:t>
            </a:r>
            <a:r>
              <a:rPr lang="en-US" sz="2000" dirty="0"/>
              <a:t/>
            </a:r>
            <a:br>
              <a:rPr lang="en-US" sz="2000" dirty="0"/>
            </a:br>
            <a:r>
              <a:rPr lang="en-US" sz="2000" dirty="0"/>
              <a:t>Provides an extensible architecture for additional </a:t>
            </a:r>
            <a:r>
              <a:rPr lang="en-US" sz="2000" dirty="0" smtClean="0"/>
              <a:t>sensors, models</a:t>
            </a:r>
            <a:r>
              <a:rPr lang="en-US" sz="2000" dirty="0"/>
              <a:t>, machines, </a:t>
            </a:r>
            <a:r>
              <a:rPr lang="en-US" sz="2000" dirty="0" smtClean="0"/>
              <a:t>and production lines</a:t>
            </a:r>
            <a:r>
              <a:rPr lang="en-US" sz="2000" dirty="0"/>
              <a:t>.</a:t>
            </a:r>
          </a:p>
        </p:txBody>
      </p:sp>
    </p:spTree>
    <p:extLst>
      <p:ext uri="{BB962C8B-B14F-4D97-AF65-F5344CB8AC3E}">
        <p14:creationId xmlns:p14="http://schemas.microsoft.com/office/powerpoint/2010/main" val="40802330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972800" cy="457200"/>
          </a:xfrm>
          <a:prstGeom prst="rect">
            <a:avLst/>
          </a:prstGeom>
          <a:noFill/>
        </p:spPr>
        <p:txBody>
          <a:bodyPr wrap="square" lIns="27432" tIns="18288" rIns="27432" bIns="18288">
            <a:spAutoFit/>
          </a:bodyPr>
          <a:lstStyle/>
          <a:p>
            <a:pPr algn="l"/>
            <a:r>
              <a:rPr sz="2700" b="1" dirty="0">
                <a:solidFill>
                  <a:srgbClr val="1F4E79"/>
                </a:solidFill>
                <a:latin typeface="Arial"/>
              </a:rPr>
              <a:t>LITERATURE SURVEY – </a:t>
            </a:r>
            <a:r>
              <a:rPr sz="2700" b="1" dirty="0" smtClean="0">
                <a:solidFill>
                  <a:srgbClr val="1F4E79"/>
                </a:solidFill>
                <a:latin typeface="Arial"/>
              </a:rPr>
              <a:t>PAPERS</a:t>
            </a:r>
            <a:endParaRPr sz="2700" b="1" dirty="0">
              <a:solidFill>
                <a:srgbClr val="1F4E79"/>
              </a:solidFill>
              <a:latin typeface="Arial"/>
            </a:endParaRPr>
          </a:p>
        </p:txBody>
      </p:sp>
      <p:graphicFrame>
        <p:nvGraphicFramePr>
          <p:cNvPr id="7" name="Table 6"/>
          <p:cNvGraphicFramePr>
            <a:graphicFrameLocks noGrp="1"/>
          </p:cNvGraphicFramePr>
          <p:nvPr>
            <p:extLst>
              <p:ext uri="{D42A27DB-BD31-4B8C-83A1-F6EECF244321}">
                <p14:modId xmlns:p14="http://schemas.microsoft.com/office/powerpoint/2010/main" val="3525167885"/>
              </p:ext>
            </p:extLst>
          </p:nvPr>
        </p:nvGraphicFramePr>
        <p:xfrm>
          <a:off x="220827" y="941832"/>
          <a:ext cx="11750040" cy="5829300"/>
        </p:xfrm>
        <a:graphic>
          <a:graphicData uri="http://schemas.openxmlformats.org/drawingml/2006/table">
            <a:tbl>
              <a:tblPr firstRow="1" bandRow="1">
                <a:tableStyleId>{5C22544A-7EE6-4342-B048-85BDC9FD1C3A}</a:tableStyleId>
              </a:tblPr>
              <a:tblGrid>
                <a:gridCol w="1176173">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2410307">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845820">
                <a:tc>
                  <a:txBody>
                    <a:bodyPr/>
                    <a:lstStyle/>
                    <a:p>
                      <a:r>
                        <a:rPr lang="en-IN" sz="1600" b="1" dirty="0" smtClean="0">
                          <a:solidFill>
                            <a:srgbClr val="FFFFFF"/>
                          </a:solidFill>
                          <a:latin typeface="Times New Roman" panose="02020603050405020304" pitchFamily="18" charset="0"/>
                          <a:cs typeface="Times New Roman" panose="02020603050405020304" pitchFamily="18" charset="0"/>
                        </a:rPr>
                        <a:t>Paper </a:t>
                      </a:r>
                      <a:br>
                        <a:rPr lang="en-IN" sz="1600" b="1" dirty="0" smtClean="0">
                          <a:solidFill>
                            <a:srgbClr val="FFFFFF"/>
                          </a:solidFill>
                          <a:latin typeface="Times New Roman" panose="02020603050405020304" pitchFamily="18" charset="0"/>
                          <a:cs typeface="Times New Roman" panose="02020603050405020304" pitchFamily="18" charset="0"/>
                        </a:rPr>
                      </a:br>
                      <a:r>
                        <a:rPr lang="en-IN" sz="1600" b="1" dirty="0" smtClean="0">
                          <a:solidFill>
                            <a:srgbClr val="FFFFFF"/>
                          </a:solidFill>
                          <a:latin typeface="Times New Roman" panose="02020603050405020304" pitchFamily="18" charset="0"/>
                          <a:cs typeface="Times New Roman" panose="02020603050405020304" pitchFamily="18" charset="0"/>
                        </a:rPr>
                        <a:t>Link</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Paper</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Methodology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Drawback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Relevance to Our Project</a:t>
                      </a:r>
                    </a:p>
                  </a:txBody>
                  <a:tcPr>
                    <a:solidFill>
                      <a:srgbClr val="1F4E79"/>
                    </a:solidFill>
                  </a:tcPr>
                </a:tc>
                <a:extLst>
                  <a:ext uri="{0D108BD9-81ED-4DB2-BD59-A6C34878D82A}">
                    <a16:rowId xmlns:a16="http://schemas.microsoft.com/office/drawing/2014/main" val="10000"/>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latin typeface="Times New Roman" panose="02020603050405020304" pitchFamily="18" charset="0"/>
                          <a:cs typeface="Times New Roman" panose="02020603050405020304" pitchFamily="18" charset="0"/>
                          <a:hlinkClick r:id="rId2"/>
                        </a:rPr>
                        <a:t>https://doi.org/10.3389/frai.2025.1655470</a:t>
                      </a:r>
                      <a:endParaRPr lang="en-IN" sz="1200" dirty="0" smtClean="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smtClean="0">
                          <a:solidFill>
                            <a:srgbClr val="1E1E1E"/>
                          </a:solidFill>
                          <a:latin typeface="Times New Roman" panose="02020603050405020304" pitchFamily="18" charset="0"/>
                          <a:cs typeface="Times New Roman" panose="02020603050405020304" pitchFamily="18" charset="0"/>
                        </a:rPr>
                        <a:t>Generative </a:t>
                      </a:r>
                      <a:r>
                        <a:rPr sz="1100" dirty="0">
                          <a:solidFill>
                            <a:srgbClr val="1E1E1E"/>
                          </a:solidFill>
                          <a:latin typeface="Times New Roman" panose="02020603050405020304" pitchFamily="18" charset="0"/>
                          <a:cs typeface="Times New Roman" panose="02020603050405020304" pitchFamily="18" charset="0"/>
                        </a:rPr>
                        <a:t>and Predictive AI for Digital Twin Systems in Manufacturing</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AI-enabled Digital Twin combining </a:t>
                      </a:r>
                      <a:r>
                        <a:rPr sz="1100" b="1" dirty="0">
                          <a:solidFill>
                            <a:srgbClr val="1E1E1E"/>
                          </a:solidFill>
                          <a:latin typeface="Times New Roman" panose="02020603050405020304" pitchFamily="18" charset="0"/>
                          <a:cs typeface="Times New Roman" panose="02020603050405020304" pitchFamily="18" charset="0"/>
                        </a:rPr>
                        <a:t>Generative AI and Predictive AI</a:t>
                      </a:r>
                      <a:r>
                        <a:rPr sz="1100" dirty="0">
                          <a:solidFill>
                            <a:srgbClr val="1E1E1E"/>
                          </a:solidFill>
                          <a:latin typeface="Times New Roman" panose="02020603050405020304" pitchFamily="18" charset="0"/>
                          <a:cs typeface="Times New Roman" panose="02020603050405020304" pitchFamily="18" charset="0"/>
                        </a:rPr>
                        <a:t>; sensor-based defect prediction and virtual testing.</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Agentic AI is not implemented; study is demonstrated in a specific welding context.</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AI + Digital Twin + defect prediction → add agentic reasoning and corrective-action support.</a:t>
                      </a:r>
                    </a:p>
                  </a:txBody>
                  <a:tcPr>
                    <a:solidFill>
                      <a:srgbClr val="F8F9FB"/>
                    </a:solidFill>
                  </a:tcPr>
                </a:tc>
                <a:extLst>
                  <a:ext uri="{0D108BD9-81ED-4DB2-BD59-A6C34878D82A}">
                    <a16:rowId xmlns:a16="http://schemas.microsoft.com/office/drawing/2014/main" val="10001"/>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solidFill>
                            <a:srgbClr val="1E1E1E"/>
                          </a:solidFill>
                          <a:latin typeface="Times New Roman" panose="02020603050405020304" pitchFamily="18" charset="0"/>
                          <a:cs typeface="Times New Roman" panose="02020603050405020304" pitchFamily="18" charset="0"/>
                          <a:hlinkClick r:id="rId3"/>
                        </a:rPr>
                        <a:t>https://doi.org/10.1016/j.ifacol.2025.12.403</a:t>
                      </a:r>
                      <a:endParaRPr lang="en-IN" sz="1200" dirty="0" smtClean="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smtClean="0">
                          <a:solidFill>
                            <a:srgbClr val="1E1E1E"/>
                          </a:solidFill>
                          <a:latin typeface="Times New Roman" panose="02020603050405020304" pitchFamily="18" charset="0"/>
                          <a:cs typeface="Times New Roman" panose="02020603050405020304" pitchFamily="18" charset="0"/>
                        </a:rPr>
                        <a:t>An </a:t>
                      </a:r>
                      <a:r>
                        <a:rPr sz="1100" dirty="0">
                          <a:solidFill>
                            <a:srgbClr val="1E1E1E"/>
                          </a:solidFill>
                          <a:latin typeface="Times New Roman" panose="02020603050405020304" pitchFamily="18" charset="0"/>
                          <a:cs typeface="Times New Roman" panose="02020603050405020304" pitchFamily="18" charset="0"/>
                        </a:rPr>
                        <a:t>Agentic AI-based Architecture for Digital Twins Specialized in Predictive Maintenance</a:t>
                      </a:r>
                    </a:p>
                  </a:txBody>
                  <a:tcPr>
                    <a:solidFill>
                      <a:srgbClr val="E8F0F8"/>
                    </a:solidFill>
                  </a:tcPr>
                </a:tc>
                <a:tc>
                  <a:txBody>
                    <a:bodyPr/>
                    <a:lstStyle/>
                    <a:p>
                      <a:r>
                        <a:rPr sz="1100" b="1" dirty="0">
                          <a:solidFill>
                            <a:srgbClr val="1E1E1E"/>
                          </a:solidFill>
                          <a:latin typeface="Times New Roman" panose="02020603050405020304" pitchFamily="18" charset="0"/>
                          <a:cs typeface="Times New Roman" panose="02020603050405020304" pitchFamily="18" charset="0"/>
                        </a:rPr>
                        <a:t>Semi-autonomous multi-agent architecture </a:t>
                      </a:r>
                      <a:r>
                        <a:rPr sz="1100" dirty="0">
                          <a:solidFill>
                            <a:srgbClr val="1E1E1E"/>
                          </a:solidFill>
                          <a:latin typeface="Times New Roman" panose="02020603050405020304" pitchFamily="18" charset="0"/>
                          <a:cs typeface="Times New Roman" panose="02020603050405020304" pitchFamily="18" charset="0"/>
                        </a:rPr>
                        <a:t>with Predictive Maintenance and Quality Assurance agents integrated with a Digital Twin.</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Mainly addresses predictive maintenance/equipment behaviour; data quality, integration and real-time responsiveness remain challenges.</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Multi-agent reasoning + Digital Twin → apply to hidden product-defect diagnosis and corrective actions.</a:t>
                      </a:r>
                    </a:p>
                  </a:txBody>
                  <a:tcPr>
                    <a:solidFill>
                      <a:srgbClr val="E8F0F8"/>
                    </a:solidFill>
                  </a:tcPr>
                </a:tc>
                <a:extLst>
                  <a:ext uri="{0D108BD9-81ED-4DB2-BD59-A6C34878D82A}">
                    <a16:rowId xmlns:a16="http://schemas.microsoft.com/office/drawing/2014/main" val="10002"/>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latin typeface="Times New Roman" panose="02020603050405020304" pitchFamily="18" charset="0"/>
                          <a:cs typeface="Times New Roman" panose="02020603050405020304" pitchFamily="18" charset="0"/>
                          <a:hlinkClick r:id="rId4"/>
                        </a:rPr>
                        <a:t>https://doi.org/10.3390/jmmp9030079</a:t>
                      </a:r>
                      <a:endParaRPr lang="en-IN" sz="1200" dirty="0" smtClean="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smtClean="0">
                          <a:solidFill>
                            <a:srgbClr val="1E1E1E"/>
                          </a:solidFill>
                          <a:latin typeface="Times New Roman" panose="02020603050405020304" pitchFamily="18" charset="0"/>
                          <a:cs typeface="Times New Roman" panose="02020603050405020304" pitchFamily="18" charset="0"/>
                        </a:rPr>
                        <a:t>Transforming </a:t>
                      </a:r>
                      <a:r>
                        <a:rPr sz="1100" dirty="0">
                          <a:solidFill>
                            <a:srgbClr val="1E1E1E"/>
                          </a:solidFill>
                          <a:latin typeface="Times New Roman" panose="02020603050405020304" pitchFamily="18" charset="0"/>
                          <a:cs typeface="Times New Roman" panose="02020603050405020304" pitchFamily="18" charset="0"/>
                        </a:rPr>
                        <a:t>Manufacturing Quality Management with Cognitive Twins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Cognitive Twin with ML and real-time manufacturing data for proactive quality management and predictive optimization.</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Prototype/flexible-manufacturing setting; </a:t>
                      </a:r>
                      <a:r>
                        <a:rPr sz="1100" dirty="0" err="1">
                          <a:solidFill>
                            <a:srgbClr val="1E1E1E"/>
                          </a:solidFill>
                          <a:latin typeface="Times New Roman" panose="02020603050405020304" pitchFamily="18" charset="0"/>
                          <a:cs typeface="Times New Roman" panose="02020603050405020304" pitchFamily="18" charset="0"/>
                        </a:rPr>
                        <a:t>generalisation</a:t>
                      </a:r>
                      <a:r>
                        <a:rPr sz="1100" dirty="0">
                          <a:solidFill>
                            <a:srgbClr val="1E1E1E"/>
                          </a:solidFill>
                          <a:latin typeface="Times New Roman" panose="02020603050405020304" pitchFamily="18" charset="0"/>
                          <a:cs typeface="Times New Roman" panose="02020603050405020304" pitchFamily="18" charset="0"/>
                        </a:rPr>
                        <a:t>, infrastructure, cybersecurity and integration remain concerns.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Real-time quality monitoring + prediction → extend with agentic reasoning and what-if action selection.</a:t>
                      </a:r>
                    </a:p>
                  </a:txBody>
                  <a:tcPr>
                    <a:solidFill>
                      <a:srgbClr val="F8F9FB"/>
                    </a:solidFill>
                  </a:tcPr>
                </a:tc>
                <a:extLst>
                  <a:ext uri="{0D108BD9-81ED-4DB2-BD59-A6C34878D82A}">
                    <a16:rowId xmlns:a16="http://schemas.microsoft.com/office/drawing/2014/main" val="10003"/>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latin typeface="Times New Roman" panose="02020603050405020304" pitchFamily="18" charset="0"/>
                          <a:cs typeface="Times New Roman" panose="02020603050405020304" pitchFamily="18" charset="0"/>
                          <a:hlinkClick r:id="rId4"/>
                        </a:rPr>
                        <a:t>https://doi.org/10.1038/s41598-026-58348-7</a:t>
                      </a:r>
                      <a:endParaRPr lang="en-IN" sz="1200" dirty="0" smtClean="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smtClean="0">
                          <a:solidFill>
                            <a:srgbClr val="1E1E1E"/>
                          </a:solidFill>
                          <a:latin typeface="Times New Roman" panose="02020603050405020304" pitchFamily="18" charset="0"/>
                          <a:cs typeface="Times New Roman" panose="02020603050405020304" pitchFamily="18" charset="0"/>
                        </a:rPr>
                        <a:t>Digital </a:t>
                      </a:r>
                      <a:r>
                        <a:rPr sz="1100" dirty="0">
                          <a:solidFill>
                            <a:srgbClr val="1E1E1E"/>
                          </a:solidFill>
                          <a:latin typeface="Times New Roman" panose="02020603050405020304" pitchFamily="18" charset="0"/>
                          <a:cs typeface="Times New Roman" panose="02020603050405020304" pitchFamily="18" charset="0"/>
                        </a:rPr>
                        <a:t>Twin-driven Multiscale Modelling for Real-Time Defect Prediction in Metal Additive Manufacturing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Digital Twin + physics-informed neural networks + CNN-LSTM + IoT/edge/fog/cloud for real-time defect prediction.</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Domain-specific to metal additive manufacturing; computationally complex and primarily prediction-focused.</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Real-time DT defect prediction → add diagnosis, simulation and recommendation.</a:t>
                      </a:r>
                    </a:p>
                  </a:txBody>
                  <a:tcPr>
                    <a:solidFill>
                      <a:srgbClr val="E8F0F8"/>
                    </a:solidFill>
                  </a:tcPr>
                </a:tc>
                <a:extLst>
                  <a:ext uri="{0D108BD9-81ED-4DB2-BD59-A6C34878D82A}">
                    <a16:rowId xmlns:a16="http://schemas.microsoft.com/office/drawing/2014/main" val="10004"/>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latin typeface="Times New Roman" panose="02020603050405020304" pitchFamily="18" charset="0"/>
                          <a:cs typeface="Times New Roman" panose="02020603050405020304" pitchFamily="18" charset="0"/>
                          <a:hlinkClick r:id="rId4"/>
                        </a:rPr>
                        <a:t>https://doi.org/10.1016/j.rcim.2023.102581</a:t>
                      </a:r>
                      <a:endParaRPr lang="en-IN" sz="1200" dirty="0" smtClean="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err="1" smtClean="0">
                          <a:solidFill>
                            <a:srgbClr val="1E1E1E"/>
                          </a:solidFill>
                          <a:latin typeface="Times New Roman" panose="02020603050405020304" pitchFamily="18" charset="0"/>
                          <a:cs typeface="Times New Roman" panose="02020603050405020304" pitchFamily="18" charset="0"/>
                        </a:rPr>
                        <a:t>Multisensor</a:t>
                      </a:r>
                      <a:r>
                        <a:rPr sz="1100" dirty="0" smtClean="0">
                          <a:solidFill>
                            <a:srgbClr val="1E1E1E"/>
                          </a:solidFill>
                          <a:latin typeface="Times New Roman" panose="02020603050405020304" pitchFamily="18" charset="0"/>
                          <a:cs typeface="Times New Roman" panose="02020603050405020304" pitchFamily="18" charset="0"/>
                        </a:rPr>
                        <a:t> </a:t>
                      </a:r>
                      <a:r>
                        <a:rPr sz="1100" dirty="0">
                          <a:solidFill>
                            <a:srgbClr val="1E1E1E"/>
                          </a:solidFill>
                          <a:latin typeface="Times New Roman" panose="02020603050405020304" pitchFamily="18" charset="0"/>
                          <a:cs typeface="Times New Roman" panose="02020603050405020304" pitchFamily="18" charset="0"/>
                        </a:rPr>
                        <a:t>Fusion-based Digital Twin for Localized Quality Prediction in Robotic L-DED</a:t>
                      </a:r>
                    </a:p>
                  </a:txBody>
                  <a:tcPr>
                    <a:solidFill>
                      <a:srgbClr val="F8F9FB"/>
                    </a:solidFill>
                  </a:tcPr>
                </a:tc>
                <a:tc>
                  <a:txBody>
                    <a:bodyPr/>
                    <a:lstStyle/>
                    <a:p>
                      <a:r>
                        <a:rPr sz="1100" dirty="0" err="1">
                          <a:solidFill>
                            <a:srgbClr val="1E1E1E"/>
                          </a:solidFill>
                          <a:latin typeface="Times New Roman" panose="02020603050405020304" pitchFamily="18" charset="0"/>
                          <a:cs typeface="Times New Roman" panose="02020603050405020304" pitchFamily="18" charset="0"/>
                        </a:rPr>
                        <a:t>Multisensor</a:t>
                      </a:r>
                      <a:r>
                        <a:rPr sz="1100" dirty="0">
                          <a:solidFill>
                            <a:srgbClr val="1E1E1E"/>
                          </a:solidFill>
                          <a:latin typeface="Times New Roman" panose="02020603050405020304" pitchFamily="18" charset="0"/>
                          <a:cs typeface="Times New Roman" panose="02020603050405020304" pitchFamily="18" charset="0"/>
                        </a:rPr>
                        <a:t> fusion using vision, microphone and thermal-camera data with a Digital Twin for localized quality prediction.</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Specific to robotic laser-directed energy deposition; no autonomous corrective-action reasoning.</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Multimodal sensing + DT quality prediction → use richer process-state features.</a:t>
                      </a:r>
                    </a:p>
                  </a:txBody>
                  <a:tcPr>
                    <a:solidFill>
                      <a:srgbClr val="F8F9F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548756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972800" cy="457200"/>
          </a:xfrm>
          <a:prstGeom prst="rect">
            <a:avLst/>
          </a:prstGeom>
          <a:noFill/>
        </p:spPr>
        <p:txBody>
          <a:bodyPr wrap="square" lIns="27432" tIns="18288" rIns="27432" bIns="18288">
            <a:spAutoFit/>
          </a:bodyPr>
          <a:lstStyle/>
          <a:p>
            <a:pPr algn="l"/>
            <a:r>
              <a:rPr sz="2700" b="1" dirty="0">
                <a:solidFill>
                  <a:srgbClr val="1F4E79"/>
                </a:solidFill>
                <a:latin typeface="Arial"/>
              </a:rPr>
              <a:t>LITERATURE SURVEY – PAPERS </a:t>
            </a:r>
          </a:p>
        </p:txBody>
      </p:sp>
      <p:sp>
        <p:nvSpPr>
          <p:cNvPr id="6" name="TextBox 5"/>
          <p:cNvSpPr txBox="1"/>
          <p:nvPr/>
        </p:nvSpPr>
        <p:spPr>
          <a:xfrm>
            <a:off x="10972800" y="6428232"/>
            <a:ext cx="457200" cy="182880"/>
          </a:xfrm>
          <a:prstGeom prst="rect">
            <a:avLst/>
          </a:prstGeom>
          <a:noFill/>
        </p:spPr>
        <p:txBody>
          <a:bodyPr wrap="square" lIns="27432" tIns="18288" rIns="27432" bIns="18288">
            <a:spAutoFit/>
          </a:bodyPr>
          <a:lstStyle/>
          <a:p>
            <a:pPr algn="r"/>
            <a:r>
              <a:rPr sz="900" b="0">
                <a:solidFill>
                  <a:srgbClr val="646464"/>
                </a:solidFill>
                <a:latin typeface="Arial"/>
              </a:rPr>
              <a:t>2</a:t>
            </a:r>
          </a:p>
        </p:txBody>
      </p:sp>
      <p:graphicFrame>
        <p:nvGraphicFramePr>
          <p:cNvPr id="7" name="Table 6"/>
          <p:cNvGraphicFramePr>
            <a:graphicFrameLocks noGrp="1"/>
          </p:cNvGraphicFramePr>
          <p:nvPr>
            <p:extLst>
              <p:ext uri="{D42A27DB-BD31-4B8C-83A1-F6EECF244321}">
                <p14:modId xmlns:p14="http://schemas.microsoft.com/office/powerpoint/2010/main" val="505763016"/>
              </p:ext>
            </p:extLst>
          </p:nvPr>
        </p:nvGraphicFramePr>
        <p:xfrm>
          <a:off x="205740" y="941832"/>
          <a:ext cx="11750040" cy="549402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1659466">
                  <a:extLst>
                    <a:ext uri="{9D8B030D-6E8A-4147-A177-3AD203B41FA5}">
                      <a16:colId xmlns:a16="http://schemas.microsoft.com/office/drawing/2014/main" val="20001"/>
                    </a:ext>
                  </a:extLst>
                </a:gridCol>
                <a:gridCol w="2387600">
                  <a:extLst>
                    <a:ext uri="{9D8B030D-6E8A-4147-A177-3AD203B41FA5}">
                      <a16:colId xmlns:a16="http://schemas.microsoft.com/office/drawing/2014/main" val="20002"/>
                    </a:ext>
                  </a:extLst>
                </a:gridCol>
                <a:gridCol w="3031067">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845820">
                <a:tc>
                  <a:txBody>
                    <a:bodyPr/>
                    <a:lstStyle/>
                    <a:p>
                      <a:r>
                        <a:rPr lang="en-IN" sz="1600" b="1" dirty="0" smtClean="0">
                          <a:solidFill>
                            <a:srgbClr val="FFFFFF"/>
                          </a:solidFill>
                          <a:latin typeface="Times New Roman" panose="02020603050405020304" pitchFamily="18" charset="0"/>
                          <a:cs typeface="Times New Roman" panose="02020603050405020304" pitchFamily="18" charset="0"/>
                        </a:rPr>
                        <a:t>Paper</a:t>
                      </a:r>
                      <a:r>
                        <a:rPr lang="en-IN" sz="1600" b="1" baseline="0" dirty="0" smtClean="0">
                          <a:solidFill>
                            <a:srgbClr val="FFFFFF"/>
                          </a:solidFill>
                          <a:latin typeface="Times New Roman" panose="02020603050405020304" pitchFamily="18" charset="0"/>
                          <a:cs typeface="Times New Roman" panose="02020603050405020304" pitchFamily="18" charset="0"/>
                        </a:rPr>
                        <a:t> Link</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a:solidFill>
                            <a:srgbClr val="FFFFFF"/>
                          </a:solidFill>
                          <a:latin typeface="Times New Roman" panose="02020603050405020304" pitchFamily="18" charset="0"/>
                          <a:cs typeface="Times New Roman" panose="02020603050405020304" pitchFamily="18" charset="0"/>
                        </a:rPr>
                        <a:t>Paper</a:t>
                      </a:r>
                    </a:p>
                  </a:txBody>
                  <a:tcPr>
                    <a:solidFill>
                      <a:srgbClr val="1F4E79"/>
                    </a:solidFill>
                  </a:tcPr>
                </a:tc>
                <a:tc>
                  <a:txBody>
                    <a:bodyPr/>
                    <a:lstStyle/>
                    <a:p>
                      <a:r>
                        <a:rPr sz="1600" b="1" dirty="0" err="1" smtClean="0">
                          <a:solidFill>
                            <a:srgbClr val="FFFFFF"/>
                          </a:solidFill>
                          <a:latin typeface="Times New Roman" panose="02020603050405020304" pitchFamily="18" charset="0"/>
                          <a:cs typeface="Times New Roman" panose="02020603050405020304" pitchFamily="18" charset="0"/>
                        </a:rPr>
                        <a:t>Methodolog</a:t>
                      </a:r>
                      <a:r>
                        <a:rPr lang="en-IN" sz="1600" b="1" dirty="0" smtClean="0">
                          <a:solidFill>
                            <a:srgbClr val="FFFFFF"/>
                          </a:solidFill>
                          <a:latin typeface="Times New Roman" panose="02020603050405020304" pitchFamily="18" charset="0"/>
                          <a:cs typeface="Times New Roman" panose="02020603050405020304" pitchFamily="18" charset="0"/>
                        </a:rPr>
                        <a:t>y</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Drawback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Relevance to Our Project</a:t>
                      </a:r>
                    </a:p>
                  </a:txBody>
                  <a:tcPr>
                    <a:solidFill>
                      <a:srgbClr val="1F4E79"/>
                    </a:solidFill>
                  </a:tcPr>
                </a:tc>
                <a:extLst>
                  <a:ext uri="{0D108BD9-81ED-4DB2-BD59-A6C34878D82A}">
                    <a16:rowId xmlns:a16="http://schemas.microsoft.com/office/drawing/2014/main" val="10000"/>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solidFill>
                            <a:srgbClr val="1E1E1E"/>
                          </a:solidFill>
                          <a:latin typeface="Times New Roman" panose="02020603050405020304" pitchFamily="18" charset="0"/>
                          <a:cs typeface="Times New Roman" panose="02020603050405020304" pitchFamily="18" charset="0"/>
                          <a:hlinkClick r:id="rId2"/>
                        </a:rPr>
                        <a:t>https://doi.org/10.1016/j.infsof.2022.107008</a:t>
                      </a:r>
                      <a:endParaRPr lang="en-IN" sz="1200" dirty="0" smtClean="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smtClean="0">
                          <a:solidFill>
                            <a:srgbClr val="1E1E1E"/>
                          </a:solidFill>
                          <a:latin typeface="Times New Roman" panose="02020603050405020304" pitchFamily="18" charset="0"/>
                          <a:cs typeface="Times New Roman" panose="02020603050405020304" pitchFamily="18" charset="0"/>
                        </a:rPr>
                        <a:t>Predictive </a:t>
                      </a:r>
                      <a:r>
                        <a:rPr sz="1100" dirty="0">
                          <a:solidFill>
                            <a:srgbClr val="1E1E1E"/>
                          </a:solidFill>
                          <a:latin typeface="Times New Roman" panose="02020603050405020304" pitchFamily="18" charset="0"/>
                          <a:cs typeface="Times New Roman" panose="02020603050405020304" pitchFamily="18" charset="0"/>
                        </a:rPr>
                        <a:t>Maintenance Using Digital Twins: A Systematic Literature Review</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Systematic review of </a:t>
                      </a:r>
                      <a:r>
                        <a:rPr sz="1100" dirty="0" smtClean="0">
                          <a:solidFill>
                            <a:srgbClr val="1E1E1E"/>
                          </a:solidFill>
                          <a:latin typeface="Times New Roman" panose="02020603050405020304" pitchFamily="18" charset="0"/>
                          <a:cs typeface="Times New Roman" panose="02020603050405020304" pitchFamily="18" charset="0"/>
                        </a:rPr>
                        <a:t>D</a:t>
                      </a:r>
                      <a:r>
                        <a:rPr lang="en-IN" sz="1100" dirty="0" smtClean="0">
                          <a:solidFill>
                            <a:srgbClr val="1E1E1E"/>
                          </a:solidFill>
                          <a:latin typeface="Times New Roman" panose="02020603050405020304" pitchFamily="18" charset="0"/>
                          <a:cs typeface="Times New Roman" panose="02020603050405020304" pitchFamily="18" charset="0"/>
                        </a:rPr>
                        <a:t>igital</a:t>
                      </a:r>
                      <a:r>
                        <a:rPr sz="1100" dirty="0" smtClean="0">
                          <a:solidFill>
                            <a:srgbClr val="1E1E1E"/>
                          </a:solidFill>
                          <a:latin typeface="Times New Roman" panose="02020603050405020304" pitchFamily="18" charset="0"/>
                          <a:cs typeface="Times New Roman" panose="02020603050405020304" pitchFamily="18" charset="0"/>
                        </a:rPr>
                        <a:t>T</a:t>
                      </a:r>
                      <a:r>
                        <a:rPr lang="en-IN" sz="1100" dirty="0" smtClean="0">
                          <a:solidFill>
                            <a:srgbClr val="1E1E1E"/>
                          </a:solidFill>
                          <a:latin typeface="Times New Roman" panose="02020603050405020304" pitchFamily="18" charset="0"/>
                          <a:cs typeface="Times New Roman" panose="02020603050405020304" pitchFamily="18" charset="0"/>
                        </a:rPr>
                        <a:t>win</a:t>
                      </a:r>
                      <a:r>
                        <a:rPr sz="1100" dirty="0" smtClean="0">
                          <a:solidFill>
                            <a:srgbClr val="1E1E1E"/>
                          </a:solidFill>
                          <a:latin typeface="Times New Roman" panose="02020603050405020304" pitchFamily="18" charset="0"/>
                          <a:cs typeface="Times New Roman" panose="02020603050405020304" pitchFamily="18" charset="0"/>
                        </a:rPr>
                        <a:t>-enabled </a:t>
                      </a:r>
                      <a:r>
                        <a:rPr sz="1100" dirty="0">
                          <a:solidFill>
                            <a:srgbClr val="1E1E1E"/>
                          </a:solidFill>
                          <a:latin typeface="Times New Roman" panose="02020603050405020304" pitchFamily="18" charset="0"/>
                          <a:cs typeface="Times New Roman" panose="02020603050405020304" pitchFamily="18" charset="0"/>
                        </a:rPr>
                        <a:t>predictive maintenance studies, architectures, ML approaches and communication protocols.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Maintenance-focused rather than product-defect management; highlights data variety, computational and model/asset complexity.</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DT architecture challenges and design considerations → inform system integration and scalability.</a:t>
                      </a:r>
                    </a:p>
                  </a:txBody>
                  <a:tcPr>
                    <a:solidFill>
                      <a:srgbClr val="F8F9FB"/>
                    </a:solidFill>
                  </a:tcPr>
                </a:tc>
                <a:extLst>
                  <a:ext uri="{0D108BD9-81ED-4DB2-BD59-A6C34878D82A}">
                    <a16:rowId xmlns:a16="http://schemas.microsoft.com/office/drawing/2014/main" val="10001"/>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solidFill>
                            <a:srgbClr val="1E1E1E"/>
                          </a:solidFill>
                          <a:latin typeface="Times New Roman" panose="02020603050405020304" pitchFamily="18" charset="0"/>
                          <a:cs typeface="Times New Roman" panose="02020603050405020304" pitchFamily="18" charset="0"/>
                          <a:hlinkClick r:id="rId3"/>
                        </a:rPr>
                        <a:t>https://doi.org/10.1016/j.jmsy.2023.10.010</a:t>
                      </a:r>
                      <a:endParaRPr lang="en-IN" sz="1200" dirty="0" smtClean="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smtClean="0">
                          <a:solidFill>
                            <a:srgbClr val="1E1E1E"/>
                          </a:solidFill>
                          <a:latin typeface="Times New Roman" panose="02020603050405020304" pitchFamily="18" charset="0"/>
                          <a:cs typeface="Times New Roman" panose="02020603050405020304" pitchFamily="18" charset="0"/>
                        </a:rPr>
                        <a:t>The </a:t>
                      </a:r>
                      <a:r>
                        <a:rPr sz="1100" dirty="0">
                          <a:solidFill>
                            <a:srgbClr val="1E1E1E"/>
                          </a:solidFill>
                          <a:latin typeface="Times New Roman" panose="02020603050405020304" pitchFamily="18" charset="0"/>
                          <a:cs typeface="Times New Roman" panose="02020603050405020304" pitchFamily="18" charset="0"/>
                        </a:rPr>
                        <a:t>Advance of Digital Twin for Predictive Maintenance: The Role and Function of Machine Learning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Review of ML roles in DT-based predictive maintenance and framework for ML-enabled DT-PdM.</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Primarily equipment health/maintenance; limited focus on hidden product defects and corrective-action simulation.</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Separate DT and predictive-ML roles → integrate them with an agentic decision layer.</a:t>
                      </a:r>
                    </a:p>
                  </a:txBody>
                  <a:tcPr>
                    <a:solidFill>
                      <a:srgbClr val="E8F0F8"/>
                    </a:solidFill>
                  </a:tcPr>
                </a:tc>
                <a:extLst>
                  <a:ext uri="{0D108BD9-81ED-4DB2-BD59-A6C34878D82A}">
                    <a16:rowId xmlns:a16="http://schemas.microsoft.com/office/drawing/2014/main" val="10002"/>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solidFill>
                            <a:srgbClr val="1E1E1E"/>
                          </a:solidFill>
                          <a:latin typeface="Times New Roman" panose="02020603050405020304" pitchFamily="18" charset="0"/>
                          <a:cs typeface="Times New Roman" panose="02020603050405020304" pitchFamily="18" charset="0"/>
                          <a:hlinkClick r:id="rId4"/>
                        </a:rPr>
                        <a:t>https://doi.org/10.1016/j.aei.2024.102800</a:t>
                      </a:r>
                      <a:endParaRPr lang="en-IN" sz="1200" dirty="0" smtClean="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smtClean="0">
                          <a:solidFill>
                            <a:srgbClr val="1E1E1E"/>
                          </a:solidFill>
                          <a:latin typeface="Times New Roman" panose="02020603050405020304" pitchFamily="18" charset="0"/>
                          <a:cs typeface="Times New Roman" panose="02020603050405020304" pitchFamily="18" charset="0"/>
                        </a:rPr>
                        <a:t>A </a:t>
                      </a:r>
                      <a:r>
                        <a:rPr sz="1100" dirty="0">
                          <a:solidFill>
                            <a:srgbClr val="1E1E1E"/>
                          </a:solidFill>
                          <a:latin typeface="Times New Roman" panose="02020603050405020304" pitchFamily="18" charset="0"/>
                          <a:cs typeface="Times New Roman" panose="02020603050405020304" pitchFamily="18" charset="0"/>
                        </a:rPr>
                        <a:t>Requirement-Based Roadmap for Standardized Predictive Maintenance Automation Using Digital Twin Technologies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Requirement-based roadmap using informational and functional requirements for DT-based predictive-maintenance automation.</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Roadmap/review rather than a complete executable closed-loop defect system.</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Functional requirements + system integration → define the executable architecture before implementation.</a:t>
                      </a:r>
                    </a:p>
                  </a:txBody>
                  <a:tcPr>
                    <a:solidFill>
                      <a:srgbClr val="F8F9FB"/>
                    </a:solidFill>
                  </a:tcPr>
                </a:tc>
                <a:extLst>
                  <a:ext uri="{0D108BD9-81ED-4DB2-BD59-A6C34878D82A}">
                    <a16:rowId xmlns:a16="http://schemas.microsoft.com/office/drawing/2014/main" val="10003"/>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solidFill>
                            <a:srgbClr val="1E1E1E"/>
                          </a:solidFill>
                          <a:latin typeface="Times New Roman" panose="02020603050405020304" pitchFamily="18" charset="0"/>
                          <a:cs typeface="Times New Roman" panose="02020603050405020304" pitchFamily="18" charset="0"/>
                          <a:hlinkClick r:id="rId5"/>
                        </a:rPr>
                        <a:t>https://doi.org/10.12688/digitaltwin.17807.2</a:t>
                      </a:r>
                      <a:endParaRPr lang="en-IN" sz="1200" dirty="0" smtClean="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smtClean="0">
                          <a:solidFill>
                            <a:srgbClr val="1E1E1E"/>
                          </a:solidFill>
                          <a:latin typeface="Times New Roman" panose="02020603050405020304" pitchFamily="18" charset="0"/>
                          <a:cs typeface="Times New Roman" panose="02020603050405020304" pitchFamily="18" charset="0"/>
                        </a:rPr>
                        <a:t>Digital </a:t>
                      </a:r>
                      <a:r>
                        <a:rPr sz="1100" dirty="0">
                          <a:solidFill>
                            <a:srgbClr val="1E1E1E"/>
                          </a:solidFill>
                          <a:latin typeface="Times New Roman" panose="02020603050405020304" pitchFamily="18" charset="0"/>
                          <a:cs typeface="Times New Roman" panose="02020603050405020304" pitchFamily="18" charset="0"/>
                        </a:rPr>
                        <a:t>Twins Along the Product Lifecycle: A Systematic Literature Review of Applications in Manufacturing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Systematic review mapping Digital Twin applications across the manufacturing product lifecycle.</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Many applications remain early-stage/prototype-oriented; lifecycle coverage and maturity vary across studies.</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Supports an extensible, integrated DT architecture rather than a single-purpose model.</a:t>
                      </a:r>
                    </a:p>
                  </a:txBody>
                  <a:tcPr>
                    <a:solidFill>
                      <a:srgbClr val="E8F0F8"/>
                    </a:solidFill>
                  </a:tcPr>
                </a:tc>
                <a:extLst>
                  <a:ext uri="{0D108BD9-81ED-4DB2-BD59-A6C34878D82A}">
                    <a16:rowId xmlns:a16="http://schemas.microsoft.com/office/drawing/2014/main" val="10004"/>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latin typeface="Times New Roman" panose="02020603050405020304" pitchFamily="18" charset="0"/>
                          <a:cs typeface="Times New Roman" panose="02020603050405020304" pitchFamily="18" charset="0"/>
                          <a:hlinkClick r:id="rId6"/>
                        </a:rPr>
                        <a:t>https://doi.org/10.1038/s41598-024-63990-0</a:t>
                      </a:r>
                      <a:endParaRPr lang="en-IN" sz="1200" dirty="0" smtClean="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smtClean="0">
                          <a:solidFill>
                            <a:srgbClr val="1E1E1E"/>
                          </a:solidFill>
                          <a:latin typeface="Times New Roman" panose="02020603050405020304" pitchFamily="18" charset="0"/>
                          <a:cs typeface="Times New Roman" panose="02020603050405020304" pitchFamily="18" charset="0"/>
                        </a:rPr>
                        <a:t> Digital </a:t>
                      </a:r>
                      <a:r>
                        <a:rPr sz="1100" dirty="0">
                          <a:solidFill>
                            <a:srgbClr val="1E1E1E"/>
                          </a:solidFill>
                          <a:latin typeface="Times New Roman" panose="02020603050405020304" pitchFamily="18" charset="0"/>
                          <a:cs typeface="Times New Roman" panose="02020603050405020304" pitchFamily="18" charset="0"/>
                        </a:rPr>
                        <a:t>Twin-Driven Prognostics and Health Management for Industrial Assets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Systematic analysis of DT-driven prognostics and health management across application, theory and implementation layers.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Asset-health focus; real-time perception, feedback and integration with intelligent decision systems remain challenges.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Data → virtual model → decision-support structure → extend toward closed-loop quality intelligence.</a:t>
                      </a:r>
                    </a:p>
                  </a:txBody>
                  <a:tcPr>
                    <a:solidFill>
                      <a:srgbClr val="F8F9F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799890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CRITICAL ANALYSIS &amp; SYNTHESIS</a:t>
            </a:r>
          </a:p>
        </p:txBody>
      </p:sp>
      <p:pic>
        <p:nvPicPr>
          <p:cNvPr id="32" name="Picture 31"/>
          <p:cNvPicPr>
            <a:picLocks noChangeAspect="1"/>
          </p:cNvPicPr>
          <p:nvPr/>
        </p:nvPicPr>
        <p:blipFill>
          <a:blip r:embed="rId2"/>
          <a:stretch>
            <a:fillRect/>
          </a:stretch>
        </p:blipFill>
        <p:spPr>
          <a:xfrm>
            <a:off x="10543945" y="85291"/>
            <a:ext cx="1648055" cy="762106"/>
          </a:xfrm>
          <a:prstGeom prst="rect">
            <a:avLst/>
          </a:prstGeom>
        </p:spPr>
      </p:pic>
      <p:sp>
        <p:nvSpPr>
          <p:cNvPr id="33" name="Rectangle 2"/>
          <p:cNvSpPr>
            <a:spLocks noChangeArrowheads="1"/>
          </p:cNvSpPr>
          <p:nvPr/>
        </p:nvSpPr>
        <p:spPr bwMode="auto">
          <a:xfrm>
            <a:off x="594360" y="957125"/>
            <a:ext cx="1021080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DIGITAL TWIN: </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Literature consistently demonstrates the use of Digital Twins for virtual representation, process monitoring, synchronization, simulation, predictive maintenance, and quality-related 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 PREDICTIVE AI: MAT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ML, DL, multi-sensor fusion, and physics-informed models have demonstrated the ability to detect anomalies and predict defects, failures, or quality risks from manufacturing process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3. AGENTIC AI: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Recent studies introduce agentic and multi-agent architectures for Digital Twin environments. However, current applications are largely oriented toward predictive maintenance rather than hidden product-defect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4. REAL-TIME INTEGRATION: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Across the literature, data heterogeneity, data quality, communication latency, computational complexity, model integration, and real-time synchronization remain important implementation challenges.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5. DECISION SUPPORT: IDENTIFIED GAP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Most existing approaches primarily terminate at monitoring, prediction, diagnosis, or maintenance recommendation. Limited work connects defect prediction with root-cause reasoning and virtual evaluation of corrective actions.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6. SYNTHESIZED RESEARCH GAP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literature indicates an opportunity for an integrated quality-intelligence framework that connects real-time defect prediction, root-cause reasoning, Digital Twin-based what-if simulation, and corrective-action recommendation within a unified workflow.</a:t>
            </a:r>
            <a:endParaRPr kumimoji="0" lang="en-US" altLang="en-US" sz="4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06294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GAP ANALYSIS THROUGH LITERATURE</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sp>
        <p:nvSpPr>
          <p:cNvPr id="8" name="TextBox 7"/>
          <p:cNvSpPr txBox="1"/>
          <p:nvPr/>
        </p:nvSpPr>
        <p:spPr>
          <a:xfrm>
            <a:off x="868680" y="1234440"/>
            <a:ext cx="10424160" cy="2913618"/>
          </a:xfrm>
          <a:prstGeom prst="rect">
            <a:avLst/>
          </a:prstGeom>
          <a:noFill/>
        </p:spPr>
        <p:txBody>
          <a:bodyPr wrap="square">
            <a:spAutoFit/>
          </a:bodyPr>
          <a:lstStyle/>
          <a:p>
            <a:pPr>
              <a:spcAft>
                <a:spcPts val="1000"/>
              </a:spcAft>
              <a:defRPr sz="1500">
                <a:solidFill>
                  <a:srgbClr val="1E1E1E"/>
                </a:solidFill>
                <a:latin typeface="Arial"/>
              </a:defRPr>
            </a:pPr>
            <a:r>
              <a:rPr dirty="0"/>
              <a:t>• Existing Digital Twin systems can monitor and predict, but autonomous reasoning about why a hidden product defect may occur is less developed.</a:t>
            </a:r>
          </a:p>
          <a:p>
            <a:pPr>
              <a:spcAft>
                <a:spcPts val="1000"/>
              </a:spcAft>
              <a:defRPr sz="1500">
                <a:solidFill>
                  <a:srgbClr val="1E1E1E"/>
                </a:solidFill>
                <a:latin typeface="Arial"/>
              </a:defRPr>
            </a:pPr>
            <a:r>
              <a:rPr dirty="0"/>
              <a:t>• Agentic Digital Twin research is emerging, but many demonstrated architectures emphasize predictive maintenance and equipment behavior rather than product-quality defects.</a:t>
            </a:r>
          </a:p>
          <a:p>
            <a:pPr>
              <a:spcAft>
                <a:spcPts val="1000"/>
              </a:spcAft>
              <a:defRPr sz="1500">
                <a:solidFill>
                  <a:srgbClr val="1E1E1E"/>
                </a:solidFill>
                <a:latin typeface="Arial"/>
              </a:defRPr>
            </a:pPr>
            <a:r>
              <a:rPr dirty="0"/>
              <a:t>• Real-time integration remains constrained by data quality, heterogeneous sensor streams, latency, computational complexity and system interoperability.</a:t>
            </a:r>
          </a:p>
          <a:p>
            <a:pPr>
              <a:spcAft>
                <a:spcPts val="1000"/>
              </a:spcAft>
              <a:defRPr sz="1500">
                <a:solidFill>
                  <a:srgbClr val="1E1E1E"/>
                </a:solidFill>
                <a:latin typeface="Arial"/>
              </a:defRPr>
            </a:pPr>
            <a:r>
              <a:rPr dirty="0"/>
              <a:t>• Prediction, root-cause analysis, virtual corrective-action testing and final recommendation are usually treated as separate </a:t>
            </a:r>
            <a:r>
              <a:rPr dirty="0" smtClean="0"/>
              <a:t>capabilities</a:t>
            </a:r>
            <a:r>
              <a:rPr lang="en-US" dirty="0" smtClean="0"/>
              <a:t>, </a:t>
            </a:r>
            <a:r>
              <a:rPr lang="en-US" dirty="0"/>
              <a:t>B</a:t>
            </a:r>
            <a:r>
              <a:rPr lang="en-US" dirty="0" smtClean="0"/>
              <a:t>ut our </a:t>
            </a:r>
            <a:r>
              <a:rPr lang="en-US" sz="1500" dirty="0" smtClean="0"/>
              <a:t>proposed </a:t>
            </a:r>
            <a:r>
              <a:rPr lang="en-US" sz="1500" dirty="0"/>
              <a:t>system wants to connect these stages.</a:t>
            </a:r>
            <a:endParaRPr lang="en-US" dirty="0"/>
          </a:p>
          <a:p>
            <a:pPr>
              <a:spcAft>
                <a:spcPts val="1000"/>
              </a:spcAft>
              <a:defRPr sz="1500">
                <a:solidFill>
                  <a:srgbClr val="1E1E1E"/>
                </a:solidFill>
                <a:latin typeface="Arial"/>
              </a:defRPr>
            </a:pPr>
            <a:r>
              <a:rPr dirty="0" smtClean="0"/>
              <a:t>• </a:t>
            </a:r>
            <a:r>
              <a:rPr dirty="0"/>
              <a:t>Limited end-to-end closed-loop architectures connect a predicted defect to simulated corrective actions and measurable decision outcomes.</a:t>
            </a:r>
          </a:p>
        </p:txBody>
      </p:sp>
      <p:sp>
        <p:nvSpPr>
          <p:cNvPr id="10" name="TextBox 9"/>
          <p:cNvSpPr txBox="1"/>
          <p:nvPr/>
        </p:nvSpPr>
        <p:spPr>
          <a:xfrm>
            <a:off x="1234440" y="5138928"/>
            <a:ext cx="1463040" cy="236988"/>
          </a:xfrm>
          <a:prstGeom prst="rect">
            <a:avLst/>
          </a:prstGeom>
          <a:noFill/>
        </p:spPr>
        <p:txBody>
          <a:bodyPr wrap="square" lIns="36576" tIns="18288" rIns="36576" bIns="18288">
            <a:spAutoFit/>
          </a:bodyPr>
          <a:lstStyle/>
          <a:p>
            <a:pPr algn="l"/>
            <a:r>
              <a:rPr sz="1300" b="1" dirty="0">
                <a:solidFill>
                  <a:srgbClr val="C00000"/>
                </a:solidFill>
                <a:latin typeface="Arial"/>
              </a:rPr>
              <a:t>RESEARCH </a:t>
            </a:r>
            <a:r>
              <a:rPr sz="1300" b="1" dirty="0" smtClean="0">
                <a:solidFill>
                  <a:srgbClr val="C00000"/>
                </a:solidFill>
                <a:latin typeface="Arial"/>
              </a:rPr>
              <a:t>GAP</a:t>
            </a:r>
            <a:r>
              <a:rPr lang="en-IN" sz="1300" b="1" dirty="0" smtClean="0">
                <a:solidFill>
                  <a:srgbClr val="C00000"/>
                </a:solidFill>
                <a:latin typeface="Arial"/>
              </a:rPr>
              <a:t>: </a:t>
            </a:r>
            <a:endParaRPr sz="1300" b="1" dirty="0">
              <a:solidFill>
                <a:srgbClr val="C00000"/>
              </a:solidFill>
              <a:latin typeface="Arial"/>
            </a:endParaRPr>
          </a:p>
        </p:txBody>
      </p:sp>
      <p:sp>
        <p:nvSpPr>
          <p:cNvPr id="11" name="TextBox 10"/>
          <p:cNvSpPr txBox="1"/>
          <p:nvPr/>
        </p:nvSpPr>
        <p:spPr>
          <a:xfrm>
            <a:off x="2743200" y="5047488"/>
            <a:ext cx="8046720" cy="441659"/>
          </a:xfrm>
          <a:prstGeom prst="rect">
            <a:avLst/>
          </a:prstGeom>
          <a:noFill/>
        </p:spPr>
        <p:txBody>
          <a:bodyPr wrap="square" lIns="36576" tIns="18288" rIns="36576" bIns="18288">
            <a:spAutoFit/>
          </a:bodyPr>
          <a:lstStyle/>
          <a:p>
            <a:r>
              <a:rPr sz="1230" b="1" dirty="0">
                <a:solidFill>
                  <a:srgbClr val="1E1E1E"/>
                </a:solidFill>
                <a:latin typeface="Arial"/>
              </a:rPr>
              <a:t>Need for an </a:t>
            </a:r>
            <a:r>
              <a:rPr lang="en-IN" sz="1400" b="1" dirty="0"/>
              <a:t>integrated</a:t>
            </a:r>
            <a:r>
              <a:rPr sz="1230" b="1" dirty="0" smtClean="0">
                <a:solidFill>
                  <a:srgbClr val="1E1E1E"/>
                </a:solidFill>
                <a:latin typeface="Arial"/>
              </a:rPr>
              <a:t> </a:t>
            </a:r>
            <a:r>
              <a:rPr sz="1230" b="1" dirty="0">
                <a:solidFill>
                  <a:srgbClr val="1E1E1E"/>
                </a:solidFill>
                <a:latin typeface="Arial"/>
              </a:rPr>
              <a:t>agentic Digital Twin that predicts emerging product defects, reasons about probable causes, evaluates corrective actions in simulation, and recommends the most suitable action in real time.</a:t>
            </a:r>
          </a:p>
        </p:txBody>
      </p:sp>
      <p:pic>
        <p:nvPicPr>
          <p:cNvPr id="12" name="Picture 11"/>
          <p:cNvPicPr>
            <a:picLocks noChangeAspect="1"/>
          </p:cNvPicPr>
          <p:nvPr/>
        </p:nvPicPr>
        <p:blipFill>
          <a:blip r:embed="rId3"/>
          <a:stretch>
            <a:fillRect/>
          </a:stretch>
        </p:blipFill>
        <p:spPr>
          <a:xfrm>
            <a:off x="10543945" y="83051"/>
            <a:ext cx="1648055" cy="76210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PROPOSED SYSTEM ARCHITECTURE</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10</a:t>
            </a:r>
          </a:p>
        </p:txBody>
      </p:sp>
      <p:pic>
        <p:nvPicPr>
          <p:cNvPr id="39" name="Picture 38"/>
          <p:cNvPicPr>
            <a:picLocks noChangeAspect="1"/>
          </p:cNvPicPr>
          <p:nvPr/>
        </p:nvPicPr>
        <p:blipFill>
          <a:blip r:embed="rId2"/>
          <a:stretch>
            <a:fillRect/>
          </a:stretch>
        </p:blipFill>
        <p:spPr>
          <a:xfrm>
            <a:off x="10543945" y="94435"/>
            <a:ext cx="1648055" cy="762106"/>
          </a:xfrm>
          <a:prstGeom prst="rect">
            <a:avLst/>
          </a:prstGeom>
        </p:spPr>
      </p:pic>
      <p:pic>
        <p:nvPicPr>
          <p:cNvPr id="41" name="Picture 40"/>
          <p:cNvPicPr>
            <a:picLocks noChangeAspect="1"/>
          </p:cNvPicPr>
          <p:nvPr/>
        </p:nvPicPr>
        <p:blipFill>
          <a:blip r:embed="rId3"/>
          <a:stretch>
            <a:fillRect/>
          </a:stretch>
        </p:blipFill>
        <p:spPr>
          <a:xfrm>
            <a:off x="376467" y="1236853"/>
            <a:ext cx="11053533" cy="4866391"/>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50180"/>
            <a:ext cx="10972800" cy="457200"/>
          </a:xfrm>
          <a:prstGeom prst="rect">
            <a:avLst/>
          </a:prstGeom>
          <a:noFill/>
        </p:spPr>
        <p:txBody>
          <a:bodyPr wrap="square" lIns="36576" tIns="18288" rIns="36576" bIns="18288">
            <a:spAutoFit/>
          </a:bodyPr>
          <a:lstStyle/>
          <a:p>
            <a:pPr algn="l"/>
            <a:r>
              <a:rPr sz="2700" b="1" dirty="0" smtClean="0">
                <a:solidFill>
                  <a:srgbClr val="1F4E79"/>
                </a:solidFill>
                <a:latin typeface="Arial"/>
              </a:rPr>
              <a:t>IMPLEMENTATION</a:t>
            </a:r>
            <a:endParaRPr sz="2700" b="1" dirty="0">
              <a:solidFill>
                <a:srgbClr val="1F4E79"/>
              </a:solidFill>
              <a:latin typeface="Arial"/>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13</a:t>
            </a:r>
          </a:p>
        </p:txBody>
      </p:sp>
      <p:pic>
        <p:nvPicPr>
          <p:cNvPr id="11" name="Picture 10"/>
          <p:cNvPicPr>
            <a:picLocks noChangeAspect="1"/>
          </p:cNvPicPr>
          <p:nvPr/>
        </p:nvPicPr>
        <p:blipFill>
          <a:blip r:embed="rId2"/>
          <a:stretch>
            <a:fillRect/>
          </a:stretch>
        </p:blipFill>
        <p:spPr>
          <a:xfrm>
            <a:off x="10543945" y="73152"/>
            <a:ext cx="1648055" cy="762106"/>
          </a:xfrm>
          <a:prstGeom prst="rect">
            <a:avLst/>
          </a:prstGeom>
        </p:spPr>
      </p:pic>
      <p:graphicFrame>
        <p:nvGraphicFramePr>
          <p:cNvPr id="19" name="Table 18"/>
          <p:cNvGraphicFramePr>
            <a:graphicFrameLocks noGrp="1"/>
          </p:cNvGraphicFramePr>
          <p:nvPr>
            <p:extLst>
              <p:ext uri="{D42A27DB-BD31-4B8C-83A1-F6EECF244321}">
                <p14:modId xmlns:p14="http://schemas.microsoft.com/office/powerpoint/2010/main" val="890290926"/>
              </p:ext>
            </p:extLst>
          </p:nvPr>
        </p:nvGraphicFramePr>
        <p:xfrm>
          <a:off x="880532" y="376560"/>
          <a:ext cx="10549468" cy="6371492"/>
        </p:xfrm>
        <a:graphic>
          <a:graphicData uri="http://schemas.openxmlformats.org/drawingml/2006/table">
            <a:tbl>
              <a:tblPr/>
              <a:tblGrid>
                <a:gridCol w="5274734">
                  <a:extLst>
                    <a:ext uri="{9D8B030D-6E8A-4147-A177-3AD203B41FA5}">
                      <a16:colId xmlns:a16="http://schemas.microsoft.com/office/drawing/2014/main" val="2024988023"/>
                    </a:ext>
                  </a:extLst>
                </a:gridCol>
                <a:gridCol w="5274734">
                  <a:extLst>
                    <a:ext uri="{9D8B030D-6E8A-4147-A177-3AD203B41FA5}">
                      <a16:colId xmlns:a16="http://schemas.microsoft.com/office/drawing/2014/main" val="2877638553"/>
                    </a:ext>
                  </a:extLst>
                </a:gridCol>
              </a:tblGrid>
              <a:tr h="268412">
                <a:tc>
                  <a:txBody>
                    <a:bodyPr/>
                    <a:lstStyle/>
                    <a:p>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extLst>
                  <a:ext uri="{0D108BD9-81ED-4DB2-BD59-A6C34878D82A}">
                    <a16:rowId xmlns:a16="http://schemas.microsoft.com/office/drawing/2014/main" val="3208052000"/>
                  </a:ext>
                </a:extLst>
              </a:tr>
              <a:tr h="961742">
                <a:tc>
                  <a:txBody>
                    <a:bodyPr/>
                    <a:lstStyle/>
                    <a:p>
                      <a:r>
                        <a:rPr lang="en-IN" sz="1600" b="1" dirty="0">
                          <a:latin typeface="Times New Roman" panose="02020603050405020304" pitchFamily="18" charset="0"/>
                          <a:cs typeface="Times New Roman" panose="02020603050405020304" pitchFamily="18" charset="0"/>
                        </a:rPr>
                        <a:t>Frontend</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Provides the user-facing interface for monitoring the manufacturing process, displaying process parameters, defect-risk alerts, probable causes, simulation results, and corrective-action recommendations.</a:t>
                      </a:r>
                    </a:p>
                  </a:txBody>
                  <a:tcPr marL="39356" marR="39356" marT="19678" marB="19678" anchor="ctr">
                    <a:lnL>
                      <a:noFill/>
                    </a:lnL>
                    <a:lnR>
                      <a:noFill/>
                    </a:lnR>
                    <a:lnT>
                      <a:noFill/>
                    </a:lnT>
                    <a:lnB>
                      <a:noFill/>
                    </a:lnB>
                  </a:tcPr>
                </a:tc>
                <a:extLst>
                  <a:ext uri="{0D108BD9-81ED-4DB2-BD59-A6C34878D82A}">
                    <a16:rowId xmlns:a16="http://schemas.microsoft.com/office/drawing/2014/main" val="2259906588"/>
                  </a:ext>
                </a:extLst>
              </a:tr>
              <a:tr h="961742">
                <a:tc>
                  <a:txBody>
                    <a:bodyPr/>
                    <a:lstStyle/>
                    <a:p>
                      <a:r>
                        <a:rPr lang="en-IN" sz="1600" b="1" dirty="0">
                          <a:latin typeface="Times New Roman" panose="02020603050405020304" pitchFamily="18" charset="0"/>
                          <a:cs typeface="Times New Roman" panose="02020603050405020304" pitchFamily="18" charset="0"/>
                        </a:rPr>
                        <a:t>Backend</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Acts as the integration layer between the frontend and computational services. It receives process data through APIs, validates and normalizes the input, invokes required services, and returns structured responses.</a:t>
                      </a:r>
                    </a:p>
                  </a:txBody>
                  <a:tcPr marL="39356" marR="39356" marT="19678" marB="19678" anchor="ctr">
                    <a:lnL>
                      <a:noFill/>
                    </a:lnL>
                    <a:lnR>
                      <a:noFill/>
                    </a:lnR>
                    <a:lnT>
                      <a:noFill/>
                    </a:lnT>
                    <a:lnB>
                      <a:noFill/>
                    </a:lnB>
                  </a:tcPr>
                </a:tc>
                <a:extLst>
                  <a:ext uri="{0D108BD9-81ED-4DB2-BD59-A6C34878D82A}">
                    <a16:rowId xmlns:a16="http://schemas.microsoft.com/office/drawing/2014/main" val="3908223034"/>
                  </a:ext>
                </a:extLst>
              </a:tr>
              <a:tr h="961742">
                <a:tc>
                  <a:txBody>
                    <a:bodyPr/>
                    <a:lstStyle/>
                    <a:p>
                      <a:r>
                        <a:rPr lang="en-IN" sz="1600" b="1">
                          <a:latin typeface="Times New Roman" panose="02020603050405020304" pitchFamily="18" charset="0"/>
                          <a:cs typeface="Times New Roman" panose="02020603050405020304" pitchFamily="18" charset="0"/>
                        </a:rPr>
                        <a:t>ML Inference</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Processes the supplied manufacturing parameters and applies the trained ML model to estimate defect probability, classify the potential defect, and provide the associated confidence or risk level.</a:t>
                      </a:r>
                    </a:p>
                  </a:txBody>
                  <a:tcPr marL="39356" marR="39356" marT="19678" marB="19678" anchor="ctr">
                    <a:lnL>
                      <a:noFill/>
                    </a:lnL>
                    <a:lnR>
                      <a:noFill/>
                    </a:lnR>
                    <a:lnT>
                      <a:noFill/>
                    </a:lnT>
                    <a:lnB>
                      <a:noFill/>
                    </a:lnB>
                  </a:tcPr>
                </a:tc>
                <a:extLst>
                  <a:ext uri="{0D108BD9-81ED-4DB2-BD59-A6C34878D82A}">
                    <a16:rowId xmlns:a16="http://schemas.microsoft.com/office/drawing/2014/main" val="902864539"/>
                  </a:ext>
                </a:extLst>
              </a:tr>
              <a:tr h="961742">
                <a:tc>
                  <a:txBody>
                    <a:bodyPr/>
                    <a:lstStyle/>
                    <a:p>
                      <a:r>
                        <a:rPr lang="en-IN" sz="1600" b="1">
                          <a:latin typeface="Times New Roman" panose="02020603050405020304" pitchFamily="18" charset="0"/>
                          <a:cs typeface="Times New Roman" panose="02020603050405020304" pitchFamily="18" charset="0"/>
                        </a:rPr>
                        <a:t>Digital Twin</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Maintains a virtual representation of the manufacturing process and its current state. It updates the virtual state using process data and supports what-if simulation for evaluating alternative process conditions.</a:t>
                      </a:r>
                    </a:p>
                  </a:txBody>
                  <a:tcPr marL="39356" marR="39356" marT="19678" marB="19678" anchor="ctr">
                    <a:lnL>
                      <a:noFill/>
                    </a:lnL>
                    <a:lnR>
                      <a:noFill/>
                    </a:lnR>
                    <a:lnT>
                      <a:noFill/>
                    </a:lnT>
                    <a:lnB>
                      <a:noFill/>
                    </a:lnB>
                  </a:tcPr>
                </a:tc>
                <a:extLst>
                  <a:ext uri="{0D108BD9-81ED-4DB2-BD59-A6C34878D82A}">
                    <a16:rowId xmlns:a16="http://schemas.microsoft.com/office/drawing/2014/main" val="2098149679"/>
                  </a:ext>
                </a:extLst>
              </a:tr>
              <a:tr h="961742">
                <a:tc>
                  <a:txBody>
                    <a:bodyPr/>
                    <a:lstStyle/>
                    <a:p>
                      <a:r>
                        <a:rPr lang="en-IN" sz="1600" b="1">
                          <a:latin typeface="Times New Roman" panose="02020603050405020304" pitchFamily="18" charset="0"/>
                          <a:cs typeface="Times New Roman" panose="02020603050405020304" pitchFamily="18" charset="0"/>
                        </a:rPr>
                        <a:t>Agentic Layer</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Provides task-oriented reasoning over prediction and simulation outputs. It analyses probable defect causes, evaluates candidate corrective actions, compares their expected outcomes, and generates a recommendation.</a:t>
                      </a:r>
                    </a:p>
                  </a:txBody>
                  <a:tcPr marL="39356" marR="39356" marT="19678" marB="19678" anchor="ctr">
                    <a:lnL>
                      <a:noFill/>
                    </a:lnL>
                    <a:lnR>
                      <a:noFill/>
                    </a:lnR>
                    <a:lnT>
                      <a:noFill/>
                    </a:lnT>
                    <a:lnB>
                      <a:noFill/>
                    </a:lnB>
                  </a:tcPr>
                </a:tc>
                <a:extLst>
                  <a:ext uri="{0D108BD9-81ED-4DB2-BD59-A6C34878D82A}">
                    <a16:rowId xmlns:a16="http://schemas.microsoft.com/office/drawing/2014/main" val="803289282"/>
                  </a:ext>
                </a:extLst>
              </a:tr>
              <a:tr h="961742">
                <a:tc>
                  <a:txBody>
                    <a:bodyPr/>
                    <a:lstStyle/>
                    <a:p>
                      <a:r>
                        <a:rPr lang="en-IN" sz="1600" b="1" dirty="0">
                          <a:latin typeface="Times New Roman" panose="02020603050405020304" pitchFamily="18" charset="0"/>
                          <a:cs typeface="Times New Roman" panose="02020603050405020304" pitchFamily="18" charset="0"/>
                        </a:rPr>
                        <a:t>Integration</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Demonstrates the complete end-to-end workflow in which process data flows from the frontend through the backend, ML inference, Digital Twin and agentic reasoning layers, with the final result returned to the dashboard.</a:t>
                      </a:r>
                    </a:p>
                  </a:txBody>
                  <a:tcPr marL="39356" marR="39356" marT="19678" marB="19678" anchor="ctr">
                    <a:lnL>
                      <a:noFill/>
                    </a:lnL>
                    <a:lnR>
                      <a:noFill/>
                    </a:lnR>
                    <a:lnT>
                      <a:noFill/>
                    </a:lnT>
                    <a:lnB>
                      <a:noFill/>
                    </a:lnB>
                  </a:tcPr>
                </a:tc>
                <a:extLst>
                  <a:ext uri="{0D108BD9-81ED-4DB2-BD59-A6C34878D82A}">
                    <a16:rowId xmlns:a16="http://schemas.microsoft.com/office/drawing/2014/main" val="2190969900"/>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2750636"/>
            <a:ext cx="10789920" cy="594360"/>
          </a:xfrm>
          <a:prstGeom prst="rect">
            <a:avLst/>
          </a:prstGeom>
          <a:noFill/>
        </p:spPr>
        <p:txBody>
          <a:bodyPr wrap="square" lIns="36576" tIns="18288" rIns="36576" bIns="18288">
            <a:spAutoFit/>
          </a:bodyPr>
          <a:lstStyle/>
          <a:p>
            <a:pPr algn="ctr"/>
            <a:r>
              <a:rPr sz="3400" b="1" dirty="0">
                <a:solidFill>
                  <a:srgbClr val="1F4E79"/>
                </a:solidFill>
                <a:latin typeface="Arial"/>
              </a:rPr>
              <a:t>THANK YOU</a:t>
            </a:r>
          </a:p>
        </p:txBody>
      </p:sp>
      <p:sp>
        <p:nvSpPr>
          <p:cNvPr id="6" name="Rectangle 5"/>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18</a:t>
            </a:r>
          </a:p>
        </p:txBody>
      </p:sp>
      <p:pic>
        <p:nvPicPr>
          <p:cNvPr id="9" name="Picture 8"/>
          <p:cNvPicPr>
            <a:picLocks noChangeAspect="1"/>
          </p:cNvPicPr>
          <p:nvPr/>
        </p:nvPicPr>
        <p:blipFill>
          <a:blip r:embed="rId2"/>
          <a:stretch>
            <a:fillRect/>
          </a:stretch>
        </p:blipFill>
        <p:spPr>
          <a:xfrm>
            <a:off x="10543945" y="89612"/>
            <a:ext cx="1648055" cy="76210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1470</TotalTime>
  <Words>1570</Words>
  <Application>Microsoft Office PowerPoint</Application>
  <PresentationFormat>Widescreen</PresentationFormat>
  <Paragraphs>164</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Sahasra</dc:creator>
  <cp:keywords/>
  <dc:description>generated using python-pptx</dc:description>
  <cp:lastModifiedBy>Sahasra</cp:lastModifiedBy>
  <cp:revision>22</cp:revision>
  <dcterms:created xsi:type="dcterms:W3CDTF">2013-01-27T09:14:16Z</dcterms:created>
  <dcterms:modified xsi:type="dcterms:W3CDTF">2026-09-12T06:00:56Z</dcterms:modified>
  <cp:category/>
</cp:coreProperties>
</file>