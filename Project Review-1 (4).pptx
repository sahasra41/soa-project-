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ppireddy amulya" userId="693c92a9dc48b925" providerId="LiveId" clId="{F864AA67-07D6-4AE6-B56F-031C4FB9D98B}"/>
    <pc:docChg chg="custSel modSld">
      <pc:chgData name="kuppireddy amulya" userId="693c92a9dc48b925" providerId="LiveId" clId="{F864AA67-07D6-4AE6-B56F-031C4FB9D98B}" dt="2026-08-19T14:33:34.734" v="49" actId="1076"/>
      <pc:docMkLst>
        <pc:docMk/>
      </pc:docMkLst>
      <pc:sldChg chg="addSp delSp modSp mod">
        <pc:chgData name="kuppireddy amulya" userId="693c92a9dc48b925" providerId="LiveId" clId="{F864AA67-07D6-4AE6-B56F-031C4FB9D98B}" dt="2026-08-19T14:33:34.734" v="49" actId="1076"/>
        <pc:sldMkLst>
          <pc:docMk/>
          <pc:sldMk cId="4118855268" sldId="260"/>
        </pc:sldMkLst>
        <pc:spChg chg="mod">
          <ac:chgData name="kuppireddy amulya" userId="693c92a9dc48b925" providerId="LiveId" clId="{F864AA67-07D6-4AE6-B56F-031C4FB9D98B}" dt="2026-08-19T14:33:23.796" v="47" actId="20577"/>
          <ac:spMkLst>
            <pc:docMk/>
            <pc:sldMk cId="4118855268" sldId="260"/>
            <ac:spMk id="2" creationId="{3F0303AA-CEE8-2513-1736-59CB3A5EF8E4}"/>
          </ac:spMkLst>
        </pc:spChg>
        <pc:picChg chg="add del mod modCrop">
          <ac:chgData name="kuppireddy amulya" userId="693c92a9dc48b925" providerId="LiveId" clId="{F864AA67-07D6-4AE6-B56F-031C4FB9D98B}" dt="2026-08-19T14:32:38.014" v="24" actId="21"/>
          <ac:picMkLst>
            <pc:docMk/>
            <pc:sldMk cId="4118855268" sldId="260"/>
            <ac:picMk id="3" creationId="{A1C841C5-9243-831D-E6D1-C692D897BB1E}"/>
          </ac:picMkLst>
        </pc:picChg>
        <pc:picChg chg="add mod modCrop">
          <ac:chgData name="kuppireddy amulya" userId="693c92a9dc48b925" providerId="LiveId" clId="{F864AA67-07D6-4AE6-B56F-031C4FB9D98B}" dt="2026-08-19T14:33:34.734" v="49" actId="1076"/>
          <ac:picMkLst>
            <pc:docMk/>
            <pc:sldMk cId="4118855268" sldId="260"/>
            <ac:picMk id="6" creationId="{5F30C0EF-1523-3BE4-7AB0-39031384A9F3}"/>
          </ac:picMkLst>
        </pc:picChg>
      </pc:sldChg>
      <pc:sldChg chg="delSp modSp mod">
        <pc:chgData name="kuppireddy amulya" userId="693c92a9dc48b925" providerId="LiveId" clId="{F864AA67-07D6-4AE6-B56F-031C4FB9D98B}" dt="2026-08-19T14:23:20.741" v="4" actId="14100"/>
        <pc:sldMkLst>
          <pc:docMk/>
          <pc:sldMk cId="2747969496" sldId="707"/>
        </pc:sldMkLst>
        <pc:spChg chg="mod">
          <ac:chgData name="kuppireddy amulya" userId="693c92a9dc48b925" providerId="LiveId" clId="{F864AA67-07D6-4AE6-B56F-031C4FB9D98B}" dt="2026-08-19T14:23:13.003" v="3" actId="14100"/>
          <ac:spMkLst>
            <pc:docMk/>
            <pc:sldMk cId="2747969496" sldId="707"/>
            <ac:spMk id="22" creationId="{6C792DA3-F484-948A-E346-F158FE24CE3F}"/>
          </ac:spMkLst>
        </pc:spChg>
        <pc:spChg chg="del">
          <ac:chgData name="kuppireddy amulya" userId="693c92a9dc48b925" providerId="LiveId" clId="{F864AA67-07D6-4AE6-B56F-031C4FB9D98B}" dt="2026-08-19T14:21:51.170" v="0" actId="21"/>
          <ac:spMkLst>
            <pc:docMk/>
            <pc:sldMk cId="2747969496" sldId="707"/>
            <ac:spMk id="24" creationId="{957E2443-43F4-3FA3-6C83-796D6B456220}"/>
          </ac:spMkLst>
        </pc:spChg>
        <pc:grpChg chg="mod">
          <ac:chgData name="kuppireddy amulya" userId="693c92a9dc48b925" providerId="LiveId" clId="{F864AA67-07D6-4AE6-B56F-031C4FB9D98B}" dt="2026-08-19T14:23:20.741" v="4" actId="14100"/>
          <ac:grpSpMkLst>
            <pc:docMk/>
            <pc:sldMk cId="2747969496" sldId="707"/>
            <ac:grpSpMk id="8" creationId="{B25CDE63-8DDC-4AC4-7713-9D89D6D0F4B1}"/>
          </ac:grpSpMkLst>
        </pc:gr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617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19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19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19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August 19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794178"/>
              </p:ext>
            </p:extLst>
          </p:nvPr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K.AMULYA – 2420090132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P.SAHASRA – 2420090128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S.SUSHMITA – 2420090076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C3D7-1A78-437F-8E79-FA9F45001D93}" type="datetime3">
              <a:rPr lang="en-US" b="1" smtClean="0"/>
              <a:t>19 August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RTOS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AgentTwinDefect</a:t>
            </a:r>
            <a:r>
              <a:rPr lang="en-IN" sz="28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 AI: An Agentic Digital Twin Platform for Real-Time Hidden Defect Prediction in Smart Manufacturing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10000"/>
                  <a:lumOff val="9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BBD2AD-CA4B-40B7-B7F6-5A567EB7E4C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 August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Ph.D. Viva Voce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55728" cy="3905204"/>
            <a:chOff x="1929643" y="1656655"/>
            <a:chExt cx="6755728" cy="414340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390497" y="4880318"/>
              <a:ext cx="482499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869377-38CF-CD2A-BF42-44F946126A3F}"/>
              </a:ext>
            </a:extLst>
          </p:cNvPr>
          <p:cNvSpPr txBox="1"/>
          <p:nvPr/>
        </p:nvSpPr>
        <p:spPr>
          <a:xfrm>
            <a:off x="802105" y="1794899"/>
            <a:ext cx="1041297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Current manufacturing systems detect defects late, causing waste, rework, and downtime. Digital Twin and AI tools help with monitoring and prediction, but they rarely combine real-time defect prediction, root-cause analysis, and corrective-action selection.</a:t>
            </a:r>
          </a:p>
          <a:p>
            <a:r>
              <a:rPr lang="en-IN" sz="2800" b="1" dirty="0" err="1"/>
              <a:t>AgentTwinDefect</a:t>
            </a:r>
            <a:r>
              <a:rPr lang="en-IN" sz="2800" b="1" dirty="0"/>
              <a:t> AI</a:t>
            </a:r>
            <a:r>
              <a:rPr lang="en-IN" sz="2800" dirty="0"/>
              <a:t> solves this by using an agentic Digital Twin that continuously monitors data, predicts defects, investigates causes, and recommends the best corrective action.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533A27-2783-F98C-CFA1-893D3DA93641}"/>
              </a:ext>
            </a:extLst>
          </p:cNvPr>
          <p:cNvSpPr txBox="1"/>
          <p:nvPr/>
        </p:nvSpPr>
        <p:spPr>
          <a:xfrm>
            <a:off x="706118" y="1556739"/>
            <a:ext cx="1091536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Develop a Digital Twin</a:t>
            </a:r>
            <a:r>
              <a:rPr lang="en-IN" sz="2800" dirty="0"/>
              <a:t> of a manufacturing process for real-time monitoring.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Collect and process sensor/process data</a:t>
            </a:r>
            <a:r>
              <a:rPr lang="en-IN" sz="2800" dirty="0"/>
              <a:t> such as temperature, vibration, speed and pressure.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Predict emerging/hidden defects</a:t>
            </a:r>
            <a:r>
              <a:rPr lang="en-IN" sz="2800" dirty="0"/>
              <a:t> using ML models.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Deploy AI agents</a:t>
            </a:r>
            <a:r>
              <a:rPr lang="en-IN" sz="2800" dirty="0"/>
              <a:t> for defect analysis and root-cause identification.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Simulate corrective actions</a:t>
            </a:r>
            <a:r>
              <a:rPr lang="en-IN" sz="2800" dirty="0"/>
              <a:t> using the Digital Twin.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Recommend the best corrective action</a:t>
            </a:r>
            <a:r>
              <a:rPr lang="en-IN" sz="2800" dirty="0"/>
              <a:t> based on predicted outcomes.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Provide a real-time dashboard</a:t>
            </a:r>
            <a:r>
              <a:rPr lang="en-IN" sz="2800" dirty="0"/>
              <a:t> for monitoring, alerts and explanations.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6064836"/>
              </p:ext>
            </p:extLst>
          </p:nvPr>
        </p:nvGraphicFramePr>
        <p:xfrm>
          <a:off x="274646" y="902154"/>
          <a:ext cx="11642705" cy="532669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9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1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738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931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Dai et al. (2025)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Generative and Predictive AI for Digital Twin Systems in Manufacturing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AI-enabled DT using Generative AI + Predictive AI; sensor-based defect prediction in welding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Enables proactive defect detection, predictive quality and virtual testing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dirty="0"/>
                        <a:t>Agentic AI, explainability and context-aware AI are proposed mainly as future extensions</a:t>
                      </a:r>
                      <a:r>
                        <a:rPr lang="en-IN" sz="1400" dirty="0"/>
                        <a:t>; implementation is partial.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12406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Collao et al. (2025)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An Agentic AI-based Architecture for Digital Twins Specialized in Predictive Maintenance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Digital Twin + anomaly detection + multi-agent system with </a:t>
                      </a:r>
                      <a:r>
                        <a:rPr lang="en-IN" sz="1400" dirty="0" err="1"/>
                        <a:t>PdM</a:t>
                      </a:r>
                      <a:r>
                        <a:rPr lang="en-IN" sz="1400" dirty="0"/>
                        <a:t> and QA agents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Agents can detect abnormal behaviour and evaluate parameter changes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Highlights unresolved </a:t>
                      </a:r>
                      <a:r>
                        <a:rPr lang="en-IN" sz="1400" b="0" dirty="0"/>
                        <a:t>data quality, system integration and real-time responsiveness </a:t>
                      </a:r>
                      <a:r>
                        <a:rPr lang="en-IN" sz="1400" dirty="0"/>
                        <a:t>challenges. 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43156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Ullah et al. (2025)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Transforming Manufacturing Quality Management with Cognitive Twins: A Data-Driven, Predictive Approach to Real-Time Optimization of Quality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Cognitive Twin + ML + real-time manufacturing quality data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Improved quality, reduced defects/scrap and enabled proactive quality management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Existing predictive approaches still have </a:t>
                      </a:r>
                      <a:r>
                        <a:rPr lang="en-IN" sz="1400" b="0" dirty="0"/>
                        <a:t>limited adaptability </a:t>
                      </a:r>
                      <a:r>
                        <a:rPr lang="en-IN" sz="1400" dirty="0"/>
                        <a:t>to changing production conditions.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  <a:tr h="118792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 err="1"/>
                        <a:t>Alfattani</a:t>
                      </a:r>
                      <a:r>
                        <a:rPr lang="en-IN" sz="1400" dirty="0"/>
                        <a:t> &amp; </a:t>
                      </a:r>
                      <a:r>
                        <a:rPr lang="en-IN" sz="1400" dirty="0" err="1"/>
                        <a:t>Hotami</a:t>
                      </a:r>
                      <a:r>
                        <a:rPr lang="en-IN" sz="1400" dirty="0"/>
                        <a:t> (2026)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Digital Twin-driven Multiscale Modelling for Real-Time Defect Prediction in Metal Additive Manufacturing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DT + PINN + CNN-LSTM + IoT + edge/fog/cloud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Achieved real-time defect prediction for LPBF with high detection performance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Validation is focused on </a:t>
                      </a:r>
                      <a:r>
                        <a:rPr lang="en-IN" sz="1400" b="0" dirty="0"/>
                        <a:t>LPBF, </a:t>
                      </a:r>
                      <a:r>
                        <a:rPr lang="en-IN" sz="1400" dirty="0"/>
                        <a:t>and the approach is computationally complex; agent-based reasoning is not incorporated. 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35515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Research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01C552-33C0-5E2F-7672-43E476E8BEBA}"/>
              </a:ext>
            </a:extLst>
          </p:cNvPr>
          <p:cNvSpPr txBox="1"/>
          <p:nvPr/>
        </p:nvSpPr>
        <p:spPr>
          <a:xfrm>
            <a:off x="970752" y="1448724"/>
            <a:ext cx="1065195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Existing Digital Twin systems can </a:t>
            </a:r>
            <a:r>
              <a:rPr lang="en-IN" sz="2400" b="1" dirty="0"/>
              <a:t>predict defects</a:t>
            </a:r>
            <a:r>
              <a:rPr lang="en-IN" sz="2400" dirty="0"/>
              <a:t>, but often lack autonomous reasoning for determining </a:t>
            </a:r>
            <a:r>
              <a:rPr lang="en-IN" sz="2400" b="1" dirty="0"/>
              <a:t>why the defect may occur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Existing Agentic Digital Twin research focuses more on </a:t>
            </a:r>
            <a:r>
              <a:rPr lang="en-IN" sz="2400" b="1" dirty="0"/>
              <a:t>predictive maintenance/equipment behaviour</a:t>
            </a:r>
            <a:r>
              <a:rPr lang="en-IN" sz="2400" dirty="0"/>
              <a:t> than hidden </a:t>
            </a:r>
            <a:r>
              <a:rPr lang="en-IN" sz="2400" b="1" dirty="0"/>
              <a:t>product-defect prediction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Current approaches have challenges in </a:t>
            </a:r>
            <a:r>
              <a:rPr lang="en-IN" sz="2400" b="1" dirty="0"/>
              <a:t>real-time integration, adaptability and data quality.</a:t>
            </a:r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There is limited end-to-end integration of </a:t>
            </a:r>
            <a:r>
              <a:rPr lang="en-IN" sz="2400" b="1" dirty="0"/>
              <a:t>defect prediction → root-cause analysis → virtual corrective-action testing → decision recommendation</a:t>
            </a:r>
            <a:r>
              <a:rPr lang="en-IN" sz="24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lvl="0"/>
            <a:r>
              <a:rPr lang="en-IN" sz="2400" b="1" dirty="0"/>
              <a:t>Gap: </a:t>
            </a:r>
            <a:r>
              <a:rPr lang="en-IN" sz="2400" dirty="0"/>
              <a:t>There is a need for an adaptive agentic Digital Twin that not only predicts emerging product defects but also reasons about their causes and evaluates corrective actions in real time.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75CBF4-0872-A996-824D-852855C10217}"/>
              </a:ext>
            </a:extLst>
          </p:cNvPr>
          <p:cNvSpPr txBox="1"/>
          <p:nvPr/>
        </p:nvSpPr>
        <p:spPr>
          <a:xfrm>
            <a:off x="867509" y="1781033"/>
            <a:ext cx="1037882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Agentic Closed-Loop Quality Intelligence</a:t>
            </a:r>
          </a:p>
          <a:p>
            <a:pPr>
              <a:buNone/>
            </a:pPr>
            <a:r>
              <a:rPr lang="en-IN" sz="2800" dirty="0"/>
              <a:t>Our novelty is </a:t>
            </a:r>
            <a:r>
              <a:rPr lang="en-IN" sz="2800" b="1" dirty="0"/>
              <a:t>not simply "AI + Digital Twin."</a:t>
            </a:r>
            <a:endParaRPr lang="en-IN" sz="2800" dirty="0"/>
          </a:p>
          <a:p>
            <a:pPr>
              <a:buNone/>
            </a:pPr>
            <a:endParaRPr lang="en-IN" sz="2800" b="1" dirty="0"/>
          </a:p>
          <a:p>
            <a:pPr>
              <a:buNone/>
            </a:pPr>
            <a:r>
              <a:rPr lang="en-IN" sz="2800" b="1" dirty="0"/>
              <a:t>Monitor → Predict → Diagnose → Simulate → Recommend</a:t>
            </a:r>
            <a:endParaRPr lang="en-IN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Predict:</a:t>
            </a:r>
            <a:r>
              <a:rPr lang="en-IN" sz="2800" dirty="0"/>
              <a:t> ML identifies potential hidden defect.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Diagnose:</a:t>
            </a:r>
            <a:r>
              <a:rPr lang="en-IN" sz="2800" dirty="0"/>
              <a:t> AI agent determines probable root cause.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Simulate:</a:t>
            </a:r>
            <a:r>
              <a:rPr lang="en-IN" sz="2800" dirty="0"/>
              <a:t> Digital Twin tests possible corrective actions.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Recommend:</a:t>
            </a:r>
            <a:r>
              <a:rPr lang="en-IN" sz="2800" dirty="0"/>
              <a:t> Decision agent selects the most suitable action.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Adapt:</a:t>
            </a:r>
            <a:r>
              <a:rPr lang="en-IN" sz="2800" dirty="0"/>
              <a:t> System learns from subsequent process outcomes.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743891"/>
            <a:ext cx="7150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       CHART FOR EACH PHASE OF YOUR PROJECT SHOULD BE THERE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 descr="pencil-drawn 15-week project timeline with six clearly separated phases and time labels">
            <a:extLst>
              <a:ext uri="{FF2B5EF4-FFF2-40B4-BE49-F238E27FC236}">
                <a16:creationId xmlns:a16="http://schemas.microsoft.com/office/drawing/2014/main" id="{5F30C0EF-1523-3BE4-7AB0-39031384A9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973" b="12393"/>
          <a:stretch>
            <a:fillRect/>
          </a:stretch>
        </p:blipFill>
        <p:spPr>
          <a:xfrm>
            <a:off x="1381398" y="1602153"/>
            <a:ext cx="9221582" cy="430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686</Words>
  <Application>Microsoft Office PowerPoint</Application>
  <PresentationFormat>Widescreen</PresentationFormat>
  <Paragraphs>101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kuppireddy amulya</cp:lastModifiedBy>
  <cp:revision>31</cp:revision>
  <dcterms:created xsi:type="dcterms:W3CDTF">2026-08-08T06:33:56Z</dcterms:created>
  <dcterms:modified xsi:type="dcterms:W3CDTF">2026-08-19T14:33:45Z</dcterms:modified>
</cp:coreProperties>
</file>